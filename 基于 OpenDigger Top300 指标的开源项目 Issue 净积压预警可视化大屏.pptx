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5"/>
  </p:notesMasterIdLst>
  <p:sldIdLst>
    <p:sldId id="260" r:id="rId4"/>
    <p:sldId id="307" r:id="rId5"/>
    <p:sldId id="262" r:id="rId6"/>
    <p:sldId id="285" r:id="rId7"/>
    <p:sldId id="264" r:id="rId8"/>
    <p:sldId id="286" r:id="rId9"/>
    <p:sldId id="287" r:id="rId10"/>
    <p:sldId id="268" r:id="rId11"/>
    <p:sldId id="294" r:id="rId12"/>
    <p:sldId id="296" r:id="rId13"/>
    <p:sldId id="305" r:id="rId14"/>
    <p:sldId id="302" r:id="rId15"/>
    <p:sldId id="298" r:id="rId16"/>
    <p:sldId id="299" r:id="rId17"/>
    <p:sldId id="300" r:id="rId18"/>
    <p:sldId id="301" r:id="rId19"/>
    <p:sldId id="270" r:id="rId20"/>
    <p:sldId id="277" r:id="rId21"/>
    <p:sldId id="292" r:id="rId22"/>
    <p:sldId id="293" r:id="rId23"/>
    <p:sldId id="284" r:id="rId2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37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0" Type="http://schemas.openxmlformats.org/officeDocument/2006/relationships/tags" Target="../tags/tag182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tags" Target="../tags/tag183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tags" Target="../tags/tag273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8" Type="http://schemas.openxmlformats.org/officeDocument/2006/relationships/tags" Target="../tags/tag283.xml"/><Relationship Id="rId17" Type="http://schemas.openxmlformats.org/officeDocument/2006/relationships/tags" Target="../tags/tag282.xml"/><Relationship Id="rId16" Type="http://schemas.openxmlformats.org/officeDocument/2006/relationships/tags" Target="../tags/tag281.xml"/><Relationship Id="rId15" Type="http://schemas.openxmlformats.org/officeDocument/2006/relationships/tags" Target="../tags/tag280.xml"/><Relationship Id="rId14" Type="http://schemas.openxmlformats.org/officeDocument/2006/relationships/tags" Target="../tags/tag279.xml"/><Relationship Id="rId13" Type="http://schemas.openxmlformats.org/officeDocument/2006/relationships/tags" Target="../tags/tag278.xml"/><Relationship Id="rId12" Type="http://schemas.openxmlformats.org/officeDocument/2006/relationships/tags" Target="../tags/tag277.xml"/><Relationship Id="rId11" Type="http://schemas.openxmlformats.org/officeDocument/2006/relationships/tags" Target="../tags/tag276.xml"/><Relationship Id="rId10" Type="http://schemas.openxmlformats.org/officeDocument/2006/relationships/tags" Target="../tags/tag275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91.xml"/><Relationship Id="rId8" Type="http://schemas.openxmlformats.org/officeDocument/2006/relationships/tags" Target="../tags/tag290.xml"/><Relationship Id="rId7" Type="http://schemas.openxmlformats.org/officeDocument/2006/relationships/tags" Target="../tags/tag289.xml"/><Relationship Id="rId6" Type="http://schemas.openxmlformats.org/officeDocument/2006/relationships/tags" Target="../tags/tag288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8" Type="http://schemas.openxmlformats.org/officeDocument/2006/relationships/tags" Target="../tags/tag300.xml"/><Relationship Id="rId17" Type="http://schemas.openxmlformats.org/officeDocument/2006/relationships/tags" Target="../tags/tag299.xml"/><Relationship Id="rId16" Type="http://schemas.openxmlformats.org/officeDocument/2006/relationships/tags" Target="../tags/tag298.xml"/><Relationship Id="rId15" Type="http://schemas.openxmlformats.org/officeDocument/2006/relationships/tags" Target="../tags/tag297.xml"/><Relationship Id="rId14" Type="http://schemas.openxmlformats.org/officeDocument/2006/relationships/tags" Target="../tags/tag296.xml"/><Relationship Id="rId13" Type="http://schemas.openxmlformats.org/officeDocument/2006/relationships/tags" Target="../tags/tag295.xml"/><Relationship Id="rId12" Type="http://schemas.openxmlformats.org/officeDocument/2006/relationships/tags" Target="../tags/tag294.xml"/><Relationship Id="rId11" Type="http://schemas.openxmlformats.org/officeDocument/2006/relationships/tags" Target="../tags/tag293.xml"/><Relationship Id="rId10" Type="http://schemas.openxmlformats.org/officeDocument/2006/relationships/tags" Target="../tags/tag292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tags" Target="../tags/tag307.xml"/><Relationship Id="rId7" Type="http://schemas.openxmlformats.org/officeDocument/2006/relationships/tags" Target="../tags/tag306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4" Type="http://schemas.openxmlformats.org/officeDocument/2006/relationships/tags" Target="../tags/tag313.xml"/><Relationship Id="rId13" Type="http://schemas.openxmlformats.org/officeDocument/2006/relationships/tags" Target="../tags/tag312.xml"/><Relationship Id="rId12" Type="http://schemas.openxmlformats.org/officeDocument/2006/relationships/tags" Target="../tags/tag311.xml"/><Relationship Id="rId11" Type="http://schemas.openxmlformats.org/officeDocument/2006/relationships/tags" Target="../tags/tag310.xml"/><Relationship Id="rId10" Type="http://schemas.openxmlformats.org/officeDocument/2006/relationships/tags" Target="../tags/tag309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2108200" y="19558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4648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5207000"/>
            <a:ext cx="452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7747000" y="19558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654800" y="4648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654800" y="5207000"/>
            <a:ext cx="452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2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096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572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35052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7528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5052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35052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4008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66484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64008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64008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9296400" y="19558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9544050" y="2260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92964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92964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32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1402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10972800" cy="2997200"/>
          </a:xfrm>
          <a:custGeom>
            <a:avLst/>
            <a:gdLst>
              <a:gd name="connisteX0" fmla="*/ 0 w 10972800"/>
              <a:gd name="connsiteY0" fmla="*/ 203200 h 2997200"/>
              <a:gd name="connisteX1" fmla="*/ 203200 w 10972800"/>
              <a:gd name="connsiteY1" fmla="*/ 0 h 2997200"/>
              <a:gd name="connisteX2" fmla="*/ 10769600 w 10972800"/>
              <a:gd name="connsiteY2" fmla="*/ 0 h 2997200"/>
              <a:gd name="connisteX3" fmla="*/ 10972800 w 10972800"/>
              <a:gd name="connsiteY3" fmla="*/ 203200 h 2997200"/>
              <a:gd name="connisteX4" fmla="*/ 10972800 w 10972800"/>
              <a:gd name="connsiteY4" fmla="*/ 2794000 h 2997200"/>
              <a:gd name="connisteX5" fmla="*/ 10769600 w 10972800"/>
              <a:gd name="connsiteY5" fmla="*/ 2997200 h 2997200"/>
              <a:gd name="connisteX6" fmla="*/ 203200 w 10972800"/>
              <a:gd name="connsiteY6" fmla="*/ 2997200 h 2997200"/>
              <a:gd name="connisteX7" fmla="*/ 0 w 10972800"/>
              <a:gd name="connsiteY7" fmla="*/ 2794000 h 2997200"/>
              <a:gd name="connisteX8" fmla="*/ 0 w 109728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94000"/>
                </a:lnTo>
                <a:cubicBezTo>
                  <a:pt x="10972800" y="2906224"/>
                  <a:pt x="10881824" y="2997200"/>
                  <a:pt x="107696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51308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638800"/>
            <a:ext cx="1082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4470400"/>
            <a:ext cx="5334000" cy="1778000"/>
          </a:xfrm>
          <a:custGeom>
            <a:avLst/>
            <a:gdLst>
              <a:gd name="connisteX0" fmla="*/ 0 w 5334000"/>
              <a:gd name="connsiteY0" fmla="*/ 0 h 1778000"/>
              <a:gd name="connisteX1" fmla="*/ 5334000 w 5334000"/>
              <a:gd name="connsiteY1" fmla="*/ 0 h 1778000"/>
              <a:gd name="connisteX2" fmla="*/ 5334000 w 5334000"/>
              <a:gd name="connsiteY2" fmla="*/ 1574800 h 1778000"/>
              <a:gd name="connisteX3" fmla="*/ 5130800 w 5334000"/>
              <a:gd name="connsiteY3" fmla="*/ 1778000 h 1778000"/>
              <a:gd name="connisteX4" fmla="*/ 203200 w 5334000"/>
              <a:gd name="connsiteY4" fmla="*/ 1778000 h 1778000"/>
              <a:gd name="connisteX5" fmla="*/ 0 w 5334000"/>
              <a:gd name="connsiteY5" fmla="*/ 1574800 h 1778000"/>
              <a:gd name="connisteX6" fmla="*/ 0 w 53340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78000">
                <a:moveTo>
                  <a:pt x="0" y="0"/>
                </a:moveTo>
                <a:lnTo>
                  <a:pt x="5334000" y="0"/>
                </a:lnTo>
                <a:lnTo>
                  <a:pt x="5334000" y="1574800"/>
                </a:lnTo>
                <a:cubicBezTo>
                  <a:pt x="5334000" y="1687024"/>
                  <a:pt x="5243024" y="1778000"/>
                  <a:pt x="51308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775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33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1778000"/>
          </a:xfrm>
          <a:custGeom>
            <a:avLst/>
            <a:gdLst>
              <a:gd name="connisteX0" fmla="*/ 0 w 5334000"/>
              <a:gd name="connsiteY0" fmla="*/ 203200 h 1778000"/>
              <a:gd name="connisteX1" fmla="*/ 203200 w 5334000"/>
              <a:gd name="connsiteY1" fmla="*/ 0 h 1778000"/>
              <a:gd name="connisteX2" fmla="*/ 5130800 w 5334000"/>
              <a:gd name="connsiteY2" fmla="*/ 0 h 1778000"/>
              <a:gd name="connisteX3" fmla="*/ 5334000 w 5334000"/>
              <a:gd name="connsiteY3" fmla="*/ 203200 h 1778000"/>
              <a:gd name="connisteX4" fmla="*/ 5334000 w 5334000"/>
              <a:gd name="connsiteY4" fmla="*/ 1778000 h 1778000"/>
              <a:gd name="connisteX5" fmla="*/ 0 w 5334000"/>
              <a:gd name="connsiteY5" fmla="*/ 1778000 h 1778000"/>
              <a:gd name="connisteX6" fmla="*/ 0 w 5334000"/>
              <a:gd name="connsiteY6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778000"/>
                </a:lnTo>
                <a:lnTo>
                  <a:pt x="0" y="17780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3302000"/>
            <a:ext cx="5334000" cy="2946400"/>
          </a:xfrm>
          <a:custGeom>
            <a:avLst/>
            <a:gdLst>
              <a:gd name="connisteX0" fmla="*/ 0 w 5334000"/>
              <a:gd name="connsiteY0" fmla="*/ 0 h 2946400"/>
              <a:gd name="connisteX1" fmla="*/ 5334000 w 5334000"/>
              <a:gd name="connsiteY1" fmla="*/ 0 h 2946400"/>
              <a:gd name="connisteX2" fmla="*/ 5334000 w 5334000"/>
              <a:gd name="connsiteY2" fmla="*/ 2743200 h 2946400"/>
              <a:gd name="connisteX3" fmla="*/ 5130800 w 5334000"/>
              <a:gd name="connsiteY3" fmla="*/ 2946400 h 2946400"/>
              <a:gd name="connisteX4" fmla="*/ 203200 w 5334000"/>
              <a:gd name="connsiteY4" fmla="*/ 2946400 h 2946400"/>
              <a:gd name="connisteX5" fmla="*/ 0 w 5334000"/>
              <a:gd name="connsiteY5" fmla="*/ 2743200 h 2946400"/>
              <a:gd name="connisteX6" fmla="*/ 0 w 5334000"/>
              <a:gd name="connsiteY6" fmla="*/ 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0"/>
                </a:moveTo>
                <a:lnTo>
                  <a:pt x="5334000" y="0"/>
                </a:ln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3876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001000" y="29972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8001000" y="3556000"/>
            <a:ext cx="312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51308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638800"/>
            <a:ext cx="1082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左标右内-装饰无-颜色错位-并列-4_1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057400"/>
            <a:ext cx="3429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7188200" y="609600"/>
            <a:ext cx="4394200" cy="2667000"/>
          </a:xfrm>
          <a:custGeom>
            <a:avLst/>
            <a:gdLst>
              <a:gd name="connisteX0" fmla="*/ 0 w 4394200"/>
              <a:gd name="connsiteY0" fmla="*/ 0 h 2667000"/>
              <a:gd name="connisteX1" fmla="*/ 4191000 w 4394200"/>
              <a:gd name="connsiteY1" fmla="*/ 0 h 2667000"/>
              <a:gd name="connisteX2" fmla="*/ 4394200 w 4394200"/>
              <a:gd name="connsiteY2" fmla="*/ 203200 h 2667000"/>
              <a:gd name="connisteX3" fmla="*/ 4394200 w 4394200"/>
              <a:gd name="connsiteY3" fmla="*/ 2463800 h 2667000"/>
              <a:gd name="connisteX4" fmla="*/ 4191000 w 4394200"/>
              <a:gd name="connsiteY4" fmla="*/ 2667000 h 2667000"/>
              <a:gd name="connisteX5" fmla="*/ 0 w 4394200"/>
              <a:gd name="connsiteY5" fmla="*/ 2667000 h 2667000"/>
              <a:gd name="connisteX6" fmla="*/ 0 w 4394200"/>
              <a:gd name="connsiteY6" fmla="*/ 0 h 2667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394200" h="2667000">
                <a:moveTo>
                  <a:pt x="0" y="0"/>
                </a:moveTo>
                <a:lnTo>
                  <a:pt x="4191000" y="0"/>
                </a:lnTo>
                <a:cubicBezTo>
                  <a:pt x="4303224" y="0"/>
                  <a:pt x="4394200" y="90976"/>
                  <a:pt x="4394200" y="203200"/>
                </a:cubicBezTo>
                <a:lnTo>
                  <a:pt x="4394200" y="2463800"/>
                </a:lnTo>
                <a:cubicBezTo>
                  <a:pt x="4394200" y="2576024"/>
                  <a:pt x="4303224" y="2667000"/>
                  <a:pt x="4191000" y="2667000"/>
                </a:cubicBez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2" hasCustomPrompt="1"/>
            <p:custDataLst>
              <p:tags r:id="rId8"/>
            </p:custDataLst>
          </p:nvPr>
        </p:nvSpPr>
        <p:spPr>
          <a:xfrm>
            <a:off x="4648200" y="609600"/>
            <a:ext cx="2540000" cy="2667000"/>
          </a:xfrm>
          <a:custGeom>
            <a:avLst/>
            <a:gdLst>
              <a:gd name="connisteX0" fmla="*/ 0 w 2540000"/>
              <a:gd name="connsiteY0" fmla="*/ 203200 h 2667000"/>
              <a:gd name="connisteX1" fmla="*/ 203200 w 2540000"/>
              <a:gd name="connsiteY1" fmla="*/ 0 h 2667000"/>
              <a:gd name="connisteX2" fmla="*/ 2540000 w 2540000"/>
              <a:gd name="connsiteY2" fmla="*/ 0 h 2667000"/>
              <a:gd name="connisteX3" fmla="*/ 2540000 w 2540000"/>
              <a:gd name="connsiteY3" fmla="*/ 2667000 h 2667000"/>
              <a:gd name="connisteX4" fmla="*/ 203200 w 2540000"/>
              <a:gd name="connsiteY4" fmla="*/ 2667000 h 2667000"/>
              <a:gd name="connisteX5" fmla="*/ 0 w 2540000"/>
              <a:gd name="connsiteY5" fmla="*/ 2463800 h 2667000"/>
              <a:gd name="connisteX6" fmla="*/ 0 w 2540000"/>
              <a:gd name="connsiteY6" fmla="*/ 203200 h 2667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667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667000"/>
                </a:lnTo>
                <a:lnTo>
                  <a:pt x="203200" y="2667000"/>
                </a:lnTo>
                <a:cubicBezTo>
                  <a:pt x="90976" y="2667000"/>
                  <a:pt x="0" y="2576024"/>
                  <a:pt x="0" y="2463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493000" y="10541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493000" y="16129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7188200" y="3581400"/>
            <a:ext cx="4394200" cy="2667000"/>
          </a:xfrm>
          <a:custGeom>
            <a:avLst/>
            <a:gdLst>
              <a:gd name="connisteX0" fmla="*/ 0 w 4394200"/>
              <a:gd name="connsiteY0" fmla="*/ 0 h 2667000"/>
              <a:gd name="connisteX1" fmla="*/ 4191000 w 4394200"/>
              <a:gd name="connsiteY1" fmla="*/ 0 h 2667000"/>
              <a:gd name="connisteX2" fmla="*/ 4394200 w 4394200"/>
              <a:gd name="connsiteY2" fmla="*/ 203200 h 2667000"/>
              <a:gd name="connisteX3" fmla="*/ 4394200 w 4394200"/>
              <a:gd name="connsiteY3" fmla="*/ 2463800 h 2667000"/>
              <a:gd name="connisteX4" fmla="*/ 4191000 w 4394200"/>
              <a:gd name="connsiteY4" fmla="*/ 2667000 h 2667000"/>
              <a:gd name="connisteX5" fmla="*/ 0 w 4394200"/>
              <a:gd name="connsiteY5" fmla="*/ 2667000 h 2667000"/>
              <a:gd name="connisteX6" fmla="*/ 0 w 4394200"/>
              <a:gd name="connsiteY6" fmla="*/ 0 h 2667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394200" h="2667000">
                <a:moveTo>
                  <a:pt x="0" y="0"/>
                </a:moveTo>
                <a:lnTo>
                  <a:pt x="4191000" y="0"/>
                </a:lnTo>
                <a:cubicBezTo>
                  <a:pt x="4303224" y="0"/>
                  <a:pt x="4394200" y="90976"/>
                  <a:pt x="4394200" y="203200"/>
                </a:cubicBezTo>
                <a:lnTo>
                  <a:pt x="4394200" y="2463800"/>
                </a:lnTo>
                <a:cubicBezTo>
                  <a:pt x="4394200" y="2576024"/>
                  <a:pt x="4303224" y="2667000"/>
                  <a:pt x="4191000" y="2667000"/>
                </a:cubicBez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4648200" y="3581400"/>
            <a:ext cx="2540000" cy="2667000"/>
          </a:xfrm>
          <a:custGeom>
            <a:avLst/>
            <a:gdLst>
              <a:gd name="connisteX0" fmla="*/ 0 w 2540000"/>
              <a:gd name="connsiteY0" fmla="*/ 203200 h 2667000"/>
              <a:gd name="connisteX1" fmla="*/ 203200 w 2540000"/>
              <a:gd name="connsiteY1" fmla="*/ 0 h 2667000"/>
              <a:gd name="connisteX2" fmla="*/ 2540000 w 2540000"/>
              <a:gd name="connsiteY2" fmla="*/ 0 h 2667000"/>
              <a:gd name="connisteX3" fmla="*/ 2540000 w 2540000"/>
              <a:gd name="connsiteY3" fmla="*/ 2667000 h 2667000"/>
              <a:gd name="connisteX4" fmla="*/ 203200 w 2540000"/>
              <a:gd name="connsiteY4" fmla="*/ 2667000 h 2667000"/>
              <a:gd name="connisteX5" fmla="*/ 0 w 2540000"/>
              <a:gd name="connsiteY5" fmla="*/ 2463800 h 2667000"/>
              <a:gd name="connisteX6" fmla="*/ 0 w 2540000"/>
              <a:gd name="connsiteY6" fmla="*/ 203200 h 2667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667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667000"/>
                </a:lnTo>
                <a:lnTo>
                  <a:pt x="203200" y="2667000"/>
                </a:lnTo>
                <a:cubicBezTo>
                  <a:pt x="90976" y="2667000"/>
                  <a:pt x="0" y="2576024"/>
                  <a:pt x="0" y="2463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7493000" y="40259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493000" y="45847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152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1082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3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057400"/>
            <a:ext cx="4876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87" hasCustomPrompt="1"/>
            <p:custDataLst>
              <p:tags r:id="rId7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颜色错位-并列-2_8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197600" y="15240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502400" y="20447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502400" y="26035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197600" y="40386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02400" y="45593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02400" y="51181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02400" y="18923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02400" y="2451100"/>
            <a:ext cx="5080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02400" y="44069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02400" y="4965700"/>
            <a:ext cx="5080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背景-装饰背景-并列-57_8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3149600" y="15240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20447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603500"/>
            <a:ext cx="782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454400" y="4559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454400" y="5118100"/>
            <a:ext cx="782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81534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7" hasCustomPrompt="1"/>
            <p:custDataLst>
              <p:tags r:id="rId6"/>
            </p:custDataLst>
          </p:nvPr>
        </p:nvSpPr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153400" y="5334000"/>
            <a:ext cx="50800" cy="914400"/>
          </a:xfrm>
          <a:custGeom>
            <a:avLst/>
            <a:gdLst>
              <a:gd name="connisteX0" fmla="*/ 0 w 50800"/>
              <a:gd name="connsiteY0" fmla="*/ 25400 h 914400"/>
              <a:gd name="connisteX1" fmla="*/ 25400 w 50800"/>
              <a:gd name="connsiteY1" fmla="*/ 0 h 914400"/>
              <a:gd name="connisteX2" fmla="*/ 25400 w 50800"/>
              <a:gd name="connsiteY2" fmla="*/ 0 h 914400"/>
              <a:gd name="connisteX3" fmla="*/ 50800 w 50800"/>
              <a:gd name="connsiteY3" fmla="*/ 25400 h 914400"/>
              <a:gd name="connisteX4" fmla="*/ 50800 w 50800"/>
              <a:gd name="connsiteY4" fmla="*/ 889000 h 914400"/>
              <a:gd name="connisteX5" fmla="*/ 25400 w 50800"/>
              <a:gd name="connsiteY5" fmla="*/ 914400 h 914400"/>
              <a:gd name="connisteX6" fmla="*/ 25400 w 50800"/>
              <a:gd name="connsiteY6" fmla="*/ 914400 h 914400"/>
              <a:gd name="connisteX7" fmla="*/ 0 w 50800"/>
              <a:gd name="connsiteY7" fmla="*/ 889000 h 914400"/>
              <a:gd name="connisteX8" fmla="*/ 0 w 50800"/>
              <a:gd name="connsiteY8" fmla="*/ 254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914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889000"/>
                </a:lnTo>
                <a:cubicBezTo>
                  <a:pt x="50800" y="903028"/>
                  <a:pt x="39428" y="914400"/>
                  <a:pt x="25400" y="914400"/>
                </a:cubicBezTo>
                <a:lnTo>
                  <a:pt x="25400" y="914400"/>
                </a:lnTo>
                <a:cubicBezTo>
                  <a:pt x="11372" y="914400"/>
                  <a:pt x="0" y="903028"/>
                  <a:pt x="0" y="889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305800" y="5334000"/>
            <a:ext cx="3276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3942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3251200"/>
          </a:xfrm>
          <a:custGeom>
            <a:avLst/>
            <a:gdLst>
              <a:gd name="connisteX0" fmla="*/ 0 w 10972800"/>
              <a:gd name="connsiteY0" fmla="*/ 203200 h 3251200"/>
              <a:gd name="connisteX1" fmla="*/ 203200 w 10972800"/>
              <a:gd name="connsiteY1" fmla="*/ 0 h 3251200"/>
              <a:gd name="connisteX2" fmla="*/ 10769600 w 10972800"/>
              <a:gd name="connsiteY2" fmla="*/ 0 h 3251200"/>
              <a:gd name="connisteX3" fmla="*/ 10972800 w 10972800"/>
              <a:gd name="connsiteY3" fmla="*/ 203200 h 3251200"/>
              <a:gd name="connisteX4" fmla="*/ 10972800 w 10972800"/>
              <a:gd name="connsiteY4" fmla="*/ 3048000 h 3251200"/>
              <a:gd name="connisteX5" fmla="*/ 10769600 w 10972800"/>
              <a:gd name="connsiteY5" fmla="*/ 3251200 h 3251200"/>
              <a:gd name="connisteX6" fmla="*/ 203200 w 10972800"/>
              <a:gd name="connsiteY6" fmla="*/ 3251200 h 3251200"/>
              <a:gd name="connisteX7" fmla="*/ 0 w 10972800"/>
              <a:gd name="connsiteY7" fmla="*/ 3048000 h 3251200"/>
              <a:gd name="connisteX8" fmla="*/ 0 w 109728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048000"/>
                </a:lnTo>
                <a:cubicBezTo>
                  <a:pt x="10972800" y="3160224"/>
                  <a:pt x="10881824" y="3251200"/>
                  <a:pt x="107696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44704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5029200"/>
            <a:ext cx="3162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420100" y="44704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420100" y="5029200"/>
            <a:ext cx="3162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请在此输入您的副标题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242951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7"/>
            </p:custDataLst>
          </p:nvPr>
        </p:nvSpPr>
        <p:spPr>
          <a:xfrm>
            <a:off x="4823354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8"/>
            </p:custDataLst>
          </p:nvPr>
        </p:nvSpPr>
        <p:spPr>
          <a:xfrm>
            <a:off x="8635118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3" name="装饰  8"/>
          <p:cNvSpPr>
            <a:spLocks noGrp="1"/>
          </p:cNvSpPr>
          <p:nvPr>
            <p:ph type="body" idx="16397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8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31" name="装饰  4"/>
          <p:cNvSpPr>
            <a:spLocks noGrp="1"/>
          </p:cNvSpPr>
          <p:nvPr>
            <p:ph type="body" idx="16399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34" name="装饰  7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37" name="装饰  0"/>
          <p:cNvSpPr>
            <a:spLocks noGrp="1"/>
          </p:cNvSpPr>
          <p:nvPr>
            <p:ph type="body" idx="16401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10007_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1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1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22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22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441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22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822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30_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81534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8153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8305800" y="42164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8305800" y="4724400"/>
            <a:ext cx="3276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6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42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8260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334000"/>
            <a:ext cx="1082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100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1524000"/>
            <a:ext cx="5588000" cy="4724400"/>
          </a:xfrm>
          <a:custGeom>
            <a:avLst/>
            <a:gdLst>
              <a:gd name="connisteX0" fmla="*/ 0 w 5588000"/>
              <a:gd name="connsiteY0" fmla="*/ 203200 h 4724400"/>
              <a:gd name="connisteX1" fmla="*/ 203200 w 5588000"/>
              <a:gd name="connsiteY1" fmla="*/ 0 h 4724400"/>
              <a:gd name="connisteX2" fmla="*/ 5384800 w 5588000"/>
              <a:gd name="connsiteY2" fmla="*/ 0 h 4724400"/>
              <a:gd name="connisteX3" fmla="*/ 5588000 w 5588000"/>
              <a:gd name="connsiteY3" fmla="*/ 203200 h 4724400"/>
              <a:gd name="connisteX4" fmla="*/ 5588000 w 5588000"/>
              <a:gd name="connsiteY4" fmla="*/ 4521200 h 4724400"/>
              <a:gd name="connisteX5" fmla="*/ 5384800 w 5588000"/>
              <a:gd name="connsiteY5" fmla="*/ 4724400 h 4724400"/>
              <a:gd name="connisteX6" fmla="*/ 203200 w 5588000"/>
              <a:gd name="connsiteY6" fmla="*/ 4724400 h 4724400"/>
              <a:gd name="connisteX7" fmla="*/ 0 w 5588000"/>
              <a:gd name="connsiteY7" fmla="*/ 4521200 h 4724400"/>
              <a:gd name="connisteX8" fmla="*/ 0 w 5588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4521200"/>
                </a:lnTo>
                <a:cubicBezTo>
                  <a:pt x="5588000" y="4633424"/>
                  <a:pt x="5497024" y="4724400"/>
                  <a:pt x="5384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02400" y="15240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02400" y="2082800"/>
            <a:ext cx="5080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59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609600" y="152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5240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032000"/>
            <a:ext cx="1082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61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5842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75184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5842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41400" y="26924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41400" y="3251200"/>
            <a:ext cx="6019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一段文本-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8" Type="http://schemas.openxmlformats.org/officeDocument/2006/relationships/theme" Target="../theme/theme2.xml"/><Relationship Id="rId47" Type="http://schemas.openxmlformats.org/officeDocument/2006/relationships/tags" Target="../tags/tag352.xml"/><Relationship Id="rId46" Type="http://schemas.openxmlformats.org/officeDocument/2006/relationships/tags" Target="../tags/tag351.xml"/><Relationship Id="rId45" Type="http://schemas.openxmlformats.org/officeDocument/2006/relationships/tags" Target="../tags/tag350.xml"/><Relationship Id="rId44" Type="http://schemas.openxmlformats.org/officeDocument/2006/relationships/tags" Target="../tags/tag349.xml"/><Relationship Id="rId43" Type="http://schemas.openxmlformats.org/officeDocument/2006/relationships/tags" Target="../tags/tag348.xml"/><Relationship Id="rId42" Type="http://schemas.openxmlformats.org/officeDocument/2006/relationships/tags" Target="../tags/tag347.xml"/><Relationship Id="rId41" Type="http://schemas.openxmlformats.org/officeDocument/2006/relationships/tags" Target="../tags/tag346.xml"/><Relationship Id="rId40" Type="http://schemas.openxmlformats.org/officeDocument/2006/relationships/tags" Target="../tags/tag345.xml"/><Relationship Id="rId4" Type="http://schemas.openxmlformats.org/officeDocument/2006/relationships/slideLayout" Target="../slideLayouts/slideLayout14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40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4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4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7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tags" Target="../tags/tag362.xml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5" Type="http://schemas.openxmlformats.org/officeDocument/2006/relationships/slideLayout" Target="../slideLayouts/slideLayout40.xml"/><Relationship Id="rId14" Type="http://schemas.openxmlformats.org/officeDocument/2006/relationships/tags" Target="../tags/tag370.xml"/><Relationship Id="rId13" Type="http://schemas.openxmlformats.org/officeDocument/2006/relationships/tags" Target="../tags/tag369.xml"/><Relationship Id="rId12" Type="http://schemas.openxmlformats.org/officeDocument/2006/relationships/tags" Target="../tags/tag368.xml"/><Relationship Id="rId11" Type="http://schemas.openxmlformats.org/officeDocument/2006/relationships/tags" Target="../tags/tag367.xml"/><Relationship Id="rId10" Type="http://schemas.openxmlformats.org/officeDocument/2006/relationships/tags" Target="../tags/tag366.xml"/><Relationship Id="rId1" Type="http://schemas.openxmlformats.org/officeDocument/2006/relationships/tags" Target="../tags/tag35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tags" Target="../tags/tag380.xml"/><Relationship Id="rId7" Type="http://schemas.openxmlformats.org/officeDocument/2006/relationships/tags" Target="../tags/tag379.xml"/><Relationship Id="rId6" Type="http://schemas.openxmlformats.org/officeDocument/2006/relationships/tags" Target="../tags/tag378.xml"/><Relationship Id="rId5" Type="http://schemas.openxmlformats.org/officeDocument/2006/relationships/tags" Target="../tags/tag377.xml"/><Relationship Id="rId4" Type="http://schemas.openxmlformats.org/officeDocument/2006/relationships/tags" Target="../tags/tag376.xml"/><Relationship Id="rId3" Type="http://schemas.openxmlformats.org/officeDocument/2006/relationships/image" Target="../media/image1.jpeg"/><Relationship Id="rId2" Type="http://schemas.openxmlformats.org/officeDocument/2006/relationships/tags" Target="../tags/tag375.xml"/><Relationship Id="rId1" Type="http://schemas.openxmlformats.org/officeDocument/2006/relationships/tags" Target="../tags/tag37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tags" Target="../tags/tag390.xml"/><Relationship Id="rId7" Type="http://schemas.openxmlformats.org/officeDocument/2006/relationships/tags" Target="../tags/tag389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" Type="http://schemas.openxmlformats.org/officeDocument/2006/relationships/image" Target="../media/image2.jpeg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3" Type="http://schemas.openxmlformats.org/officeDocument/2006/relationships/slideLayout" Target="../slideLayouts/slideLayout25.xml"/><Relationship Id="rId12" Type="http://schemas.openxmlformats.org/officeDocument/2006/relationships/tags" Target="../tags/tag393.xml"/><Relationship Id="rId11" Type="http://schemas.openxmlformats.org/officeDocument/2006/relationships/tags" Target="../tags/tag392.xml"/><Relationship Id="rId10" Type="http://schemas.openxmlformats.org/officeDocument/2006/relationships/tags" Target="../tags/tag391.xml"/><Relationship Id="rId1" Type="http://schemas.openxmlformats.org/officeDocument/2006/relationships/tags" Target="../tags/tag38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0.xml"/><Relationship Id="rId8" Type="http://schemas.openxmlformats.org/officeDocument/2006/relationships/tags" Target="../tags/tag399.xml"/><Relationship Id="rId7" Type="http://schemas.openxmlformats.org/officeDocument/2006/relationships/image" Target="../media/image5.jpeg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tags" Target="../tags/tag396.xml"/><Relationship Id="rId3" Type="http://schemas.openxmlformats.org/officeDocument/2006/relationships/image" Target="../media/image4.jpeg"/><Relationship Id="rId2" Type="http://schemas.openxmlformats.org/officeDocument/2006/relationships/tags" Target="../tags/tag395.xml"/><Relationship Id="rId11" Type="http://schemas.openxmlformats.org/officeDocument/2006/relationships/slideLayout" Target="../slideLayouts/slideLayout24.xml"/><Relationship Id="rId10" Type="http://schemas.openxmlformats.org/officeDocument/2006/relationships/tags" Target="../tags/tag401.xml"/><Relationship Id="rId1" Type="http://schemas.openxmlformats.org/officeDocument/2006/relationships/tags" Target="../tags/tag39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408.xml"/><Relationship Id="rId7" Type="http://schemas.openxmlformats.org/officeDocument/2006/relationships/tags" Target="../tags/tag407.xml"/><Relationship Id="rId6" Type="http://schemas.openxmlformats.org/officeDocument/2006/relationships/tags" Target="../tags/tag406.xml"/><Relationship Id="rId5" Type="http://schemas.openxmlformats.org/officeDocument/2006/relationships/tags" Target="../tags/tag405.xml"/><Relationship Id="rId4" Type="http://schemas.openxmlformats.org/officeDocument/2006/relationships/image" Target="../media/image6.jpeg"/><Relationship Id="rId3" Type="http://schemas.openxmlformats.org/officeDocument/2006/relationships/tags" Target="../tags/tag404.xml"/><Relationship Id="rId2" Type="http://schemas.openxmlformats.org/officeDocument/2006/relationships/tags" Target="../tags/tag403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411.xml"/><Relationship Id="rId11" Type="http://schemas.openxmlformats.org/officeDocument/2006/relationships/tags" Target="../tags/tag410.xml"/><Relationship Id="rId10" Type="http://schemas.openxmlformats.org/officeDocument/2006/relationships/tags" Target="../tags/tag409.xml"/><Relationship Id="rId1" Type="http://schemas.openxmlformats.org/officeDocument/2006/relationships/tags" Target="../tags/tag40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414.xml"/><Relationship Id="rId2" Type="http://schemas.openxmlformats.org/officeDocument/2006/relationships/tags" Target="../tags/tag413.xml"/><Relationship Id="rId1" Type="http://schemas.openxmlformats.org/officeDocument/2006/relationships/tags" Target="../tags/tag41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9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tags" Target="../tags/tag4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7" Type="http://schemas.openxmlformats.org/officeDocument/2006/relationships/tags" Target="../tags/tag423.xml"/><Relationship Id="rId6" Type="http://schemas.openxmlformats.org/officeDocument/2006/relationships/image" Target="../media/image9.png"/><Relationship Id="rId5" Type="http://schemas.openxmlformats.org/officeDocument/2006/relationships/tags" Target="../tags/tag422.xml"/><Relationship Id="rId4" Type="http://schemas.openxmlformats.org/officeDocument/2006/relationships/tags" Target="../tags/tag421.xml"/><Relationship Id="rId3" Type="http://schemas.openxmlformats.org/officeDocument/2006/relationships/tags" Target="../tags/tag420.xml"/><Relationship Id="rId2" Type="http://schemas.openxmlformats.org/officeDocument/2006/relationships/tags" Target="../tags/tag419.xml"/><Relationship Id="rId1" Type="http://schemas.openxmlformats.org/officeDocument/2006/relationships/tags" Target="../tags/tag4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7" Type="http://schemas.openxmlformats.org/officeDocument/2006/relationships/tags" Target="../tags/tag429.xml"/><Relationship Id="rId6" Type="http://schemas.openxmlformats.org/officeDocument/2006/relationships/image" Target="../media/image10.png"/><Relationship Id="rId5" Type="http://schemas.openxmlformats.org/officeDocument/2006/relationships/tags" Target="../tags/tag428.xml"/><Relationship Id="rId4" Type="http://schemas.openxmlformats.org/officeDocument/2006/relationships/tags" Target="../tags/tag427.xml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" Type="http://schemas.openxmlformats.org/officeDocument/2006/relationships/tags" Target="../tags/tag424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6.xml"/><Relationship Id="rId6" Type="http://schemas.openxmlformats.org/officeDocument/2006/relationships/tags" Target="../tags/tag434.xml"/><Relationship Id="rId5" Type="http://schemas.openxmlformats.org/officeDocument/2006/relationships/image" Target="../media/image11.png"/><Relationship Id="rId4" Type="http://schemas.openxmlformats.org/officeDocument/2006/relationships/tags" Target="../tags/tag433.xml"/><Relationship Id="rId3" Type="http://schemas.openxmlformats.org/officeDocument/2006/relationships/tags" Target="../tags/tag432.xml"/><Relationship Id="rId2" Type="http://schemas.openxmlformats.org/officeDocument/2006/relationships/tags" Target="../tags/tag431.xml"/><Relationship Id="rId1" Type="http://schemas.openxmlformats.org/officeDocument/2006/relationships/tags" Target="../tags/tag43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7" Type="http://schemas.openxmlformats.org/officeDocument/2006/relationships/tags" Target="../tags/tag440.xml"/><Relationship Id="rId6" Type="http://schemas.openxmlformats.org/officeDocument/2006/relationships/image" Target="../media/image12.png"/><Relationship Id="rId5" Type="http://schemas.openxmlformats.org/officeDocument/2006/relationships/tags" Target="../tags/tag439.xml"/><Relationship Id="rId4" Type="http://schemas.openxmlformats.org/officeDocument/2006/relationships/tags" Target="../tags/tag438.xml"/><Relationship Id="rId3" Type="http://schemas.openxmlformats.org/officeDocument/2006/relationships/tags" Target="../tags/tag437.xml"/><Relationship Id="rId2" Type="http://schemas.openxmlformats.org/officeDocument/2006/relationships/tags" Target="../tags/tag436.xml"/><Relationship Id="rId1" Type="http://schemas.openxmlformats.org/officeDocument/2006/relationships/tags" Target="../tags/tag4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tags" Target="../tags/tag442.xml"/><Relationship Id="rId1" Type="http://schemas.openxmlformats.org/officeDocument/2006/relationships/tags" Target="../tags/tag44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445.xml"/><Relationship Id="rId2" Type="http://schemas.openxmlformats.org/officeDocument/2006/relationships/tags" Target="../tags/tag444.xml"/><Relationship Id="rId1" Type="http://schemas.openxmlformats.org/officeDocument/2006/relationships/tags" Target="../tags/tag44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456.xml"/><Relationship Id="rId11" Type="http://schemas.openxmlformats.org/officeDocument/2006/relationships/image" Target="../media/image13.png"/><Relationship Id="rId10" Type="http://schemas.openxmlformats.org/officeDocument/2006/relationships/tags" Target="../tags/tag455.xml"/><Relationship Id="rId1" Type="http://schemas.openxmlformats.org/officeDocument/2006/relationships/tags" Target="../tags/tag44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463.xml"/><Relationship Id="rId8" Type="http://schemas.openxmlformats.org/officeDocument/2006/relationships/tags" Target="../tags/tag462.xml"/><Relationship Id="rId7" Type="http://schemas.openxmlformats.org/officeDocument/2006/relationships/image" Target="../media/image15.jpeg"/><Relationship Id="rId6" Type="http://schemas.openxmlformats.org/officeDocument/2006/relationships/tags" Target="../tags/tag461.xml"/><Relationship Id="rId5" Type="http://schemas.openxmlformats.org/officeDocument/2006/relationships/tags" Target="../tags/tag460.xml"/><Relationship Id="rId4" Type="http://schemas.openxmlformats.org/officeDocument/2006/relationships/tags" Target="../tags/tag459.xml"/><Relationship Id="rId3" Type="http://schemas.openxmlformats.org/officeDocument/2006/relationships/image" Target="../media/image14.jpeg"/><Relationship Id="rId2" Type="http://schemas.openxmlformats.org/officeDocument/2006/relationships/tags" Target="../tags/tag458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467.xml"/><Relationship Id="rId13" Type="http://schemas.openxmlformats.org/officeDocument/2006/relationships/tags" Target="../tags/tag466.xml"/><Relationship Id="rId12" Type="http://schemas.openxmlformats.org/officeDocument/2006/relationships/tags" Target="../tags/tag465.xml"/><Relationship Id="rId11" Type="http://schemas.openxmlformats.org/officeDocument/2006/relationships/image" Target="../media/image16.jpeg"/><Relationship Id="rId10" Type="http://schemas.openxmlformats.org/officeDocument/2006/relationships/tags" Target="../tags/tag464.xml"/><Relationship Id="rId1" Type="http://schemas.openxmlformats.org/officeDocument/2006/relationships/tags" Target="../tags/tag45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tags" Target="../tags/tag474.xml"/><Relationship Id="rId7" Type="http://schemas.openxmlformats.org/officeDocument/2006/relationships/tags" Target="../tags/tag473.xml"/><Relationship Id="rId6" Type="http://schemas.openxmlformats.org/officeDocument/2006/relationships/tags" Target="../tags/tag472.xml"/><Relationship Id="rId5" Type="http://schemas.openxmlformats.org/officeDocument/2006/relationships/tags" Target="../tags/tag471.xml"/><Relationship Id="rId4" Type="http://schemas.openxmlformats.org/officeDocument/2006/relationships/image" Target="../media/image17.jpeg"/><Relationship Id="rId3" Type="http://schemas.openxmlformats.org/officeDocument/2006/relationships/tags" Target="../tags/tag470.xml"/><Relationship Id="rId2" Type="http://schemas.openxmlformats.org/officeDocument/2006/relationships/tags" Target="../tags/tag469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477.xml"/><Relationship Id="rId11" Type="http://schemas.openxmlformats.org/officeDocument/2006/relationships/tags" Target="../tags/tag476.xml"/><Relationship Id="rId10" Type="http://schemas.openxmlformats.org/officeDocument/2006/relationships/tags" Target="../tags/tag475.xml"/><Relationship Id="rId1" Type="http://schemas.openxmlformats.org/officeDocument/2006/relationships/tags" Target="../tags/tag468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" Type="http://schemas.openxmlformats.org/officeDocument/2006/relationships/tags" Target="../tags/tag4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2026/01/13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4200"/>
              <a:t>基于 OpenDigger Top300 指标的开源项目 Issue 净积压预警可视化大屏</a:t>
            </a:r>
            <a:endParaRPr lang="zh-CN" altLang="en-US" sz="420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耿紫琪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782630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CONTENTS</a:t>
            </a:r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ctrTitle" idx="17826049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31988377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19883522"/>
            <p:custDataLst>
              <p:tags r:id="rId4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5144601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项目说明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319949313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319949058"/>
            <p:custDataLst>
              <p:tags r:id="rId7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51511553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模块化设计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320014849"/>
            <p:custDataLst>
              <p:tags r:id="rId9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320014594"/>
            <p:custDataLst>
              <p:tags r:id="rId10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515770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数据大屏分析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320080385"/>
            <p:custDataLst>
              <p:tags r:id="rId1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320080130"/>
            <p:custDataLst>
              <p:tags r:id="rId1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51642625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补充说明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项目说明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项目研究问题</a:t>
            </a:r>
            <a:endParaRPr lang="zh-CN" altLang="en-US"/>
          </a:p>
        </p:txBody>
      </p:sp>
      <p:pic>
        <p:nvPicPr>
          <p:cNvPr id="3" name="内容占位符 2" descr="aca89b69-f032-11f0-bd1a-ce9c07525887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327" b="327"/>
          <a:stretch>
            <a:fillRect/>
          </a:stretch>
        </p:blipFill>
        <p:spPr>
          <a:xfrm>
            <a:off x="609600" y="609600"/>
            <a:ext cx="10972800" cy="3251200"/>
          </a:xfrm>
          <a:custGeom>
            <a:avLst/>
            <a:gdLst>
              <a:gd name="connisteX0" fmla="*/ 0 w 10972800"/>
              <a:gd name="connsiteY0" fmla="*/ 203200 h 3251200"/>
              <a:gd name="connisteX1" fmla="*/ 203200 w 10972800"/>
              <a:gd name="connsiteY1" fmla="*/ 0 h 3251200"/>
              <a:gd name="connisteX2" fmla="*/ 10769600 w 10972800"/>
              <a:gd name="connsiteY2" fmla="*/ 0 h 3251200"/>
              <a:gd name="connisteX3" fmla="*/ 10972800 w 10972800"/>
              <a:gd name="connsiteY3" fmla="*/ 203200 h 3251200"/>
              <a:gd name="connisteX4" fmla="*/ 10972800 w 10972800"/>
              <a:gd name="connsiteY4" fmla="*/ 3048000 h 3251200"/>
              <a:gd name="connisteX5" fmla="*/ 10769600 w 10972800"/>
              <a:gd name="connsiteY5" fmla="*/ 3251200 h 3251200"/>
              <a:gd name="connisteX6" fmla="*/ 203200 w 10972800"/>
              <a:gd name="connsiteY6" fmla="*/ 3251200 h 3251200"/>
              <a:gd name="connisteX7" fmla="*/ 0 w 10972800"/>
              <a:gd name="connsiteY7" fmla="*/ 3048000 h 3251200"/>
              <a:gd name="connisteX8" fmla="*/ 0 w 109728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048000"/>
                </a:lnTo>
                <a:cubicBezTo>
                  <a:pt x="10972800" y="3160224"/>
                  <a:pt x="10881824" y="3251200"/>
                  <a:pt x="107696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主题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聚焦Top300项目，识别Issue净积压显著上升，形成预警看板，辅助社区治理。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预警指标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选用当月Issue净积压显著上升，反映需求压力与处理能力缺口，作为低成本预警信号。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模块化设计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数据输入层（JSON 指标）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>
          <a:solidFill>
            <a:srgbClr val="DDDDDD">
              <a:alpha val="100000"/>
            </a:srgbClr>
          </a:solidFill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ad4faf54-f032-11f0-b008-5eb41afc302d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4222" r="14222"/>
          <a:stretch>
            <a:fillRect/>
          </a:stretch>
        </p:blipFill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000000"/>
                </a:solidFill>
              </a:rPr>
              <a:t>数据集范围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3454369" y="2628154"/>
            <a:ext cx="7823200" cy="609600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000000"/>
                </a:solidFill>
              </a:rPr>
              <a:t>涵盖Top300项目，包括OpenDigger指标与OpenRank，时间跨度从2020年初至2023年3月。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solidFill>
            <a:srgbClr val="DDDDDD">
              <a:alpha val="100000"/>
            </a:srgbClr>
          </a:solidFill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ad4fafe0-f032-11f0-b008-5eb41afc302d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1107" r="1107"/>
          <a:stretch>
            <a:fillRect/>
          </a:stretch>
        </p:blipFill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000000"/>
                </a:solidFill>
              </a:rPr>
              <a:t>数据格式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000000"/>
                </a:solidFill>
              </a:rPr>
              <a:t>采用JSON格式存储指标数据，便于解析和处理。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处理与建模层（Python 清洗+结构化）</a:t>
            </a:r>
            <a:endParaRPr lang="zh-CN" altLang="en-US"/>
          </a:p>
        </p:txBody>
      </p:sp>
      <p:pic>
        <p:nvPicPr>
          <p:cNvPr id="3" name="内容占位符 2" descr="ac8e2c70-f032-11f0-9638-0e56e97016cb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92" r="192"/>
          <a:stretch>
            <a:fillRect/>
          </a:stretch>
        </p:blipFill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长表构建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build_long_tables.py将JSON时序数据摊平为CSV，适应数据分析需求。</a:t>
            </a:r>
            <a:endParaRPr lang="zh-CN" altLang="en-US"/>
          </a:p>
        </p:txBody>
      </p:sp>
      <p:pic>
        <p:nvPicPr>
          <p:cNvPr id="6" name="内容占位符 5" descr="ac8e2c79-f032-11f0-9638-0e56e97016cb"/>
          <p:cNvPicPr>
            <a:picLocks noChangeAspect="1"/>
          </p:cNvPicPr>
          <p:nvPr>
            <p:ph idx="16391"/>
            <p:custDataLst>
              <p:tags r:id="rId6"/>
            </p:custDataLst>
          </p:nvPr>
        </p:nvPicPr>
        <p:blipFill>
          <a:blip r:embed="rId7"/>
          <a:srcRect l="154" r="154"/>
          <a:stretch>
            <a:fillRect/>
          </a:stretch>
        </p:blipFill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健康度与预警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build_health_and_alerts.py基于月度指标生成汇总，评估健康度，创建预警表。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可视化层（DataEase 大屏）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>
          <a:solidFill>
            <a:srgbClr val="DDDDDD">
              <a:alpha val="100000"/>
            </a:srgbClr>
          </a:solidFill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aa63b853-f032-11f0-a65a-8aa8766f0d9a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1670" b="1670"/>
          <a:stretch>
            <a:fillRect/>
          </a:stretch>
        </p:blipFill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DataEase大屏设计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暗色主题，导入alerts_end.csv，形成治理预警展示。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solidFill>
            <a:srgbClr val="DDDDDD">
              <a:alpha val="100000"/>
            </a:srgbClr>
          </a:solidFill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aa63baa1-f032-11f0-a65a-8aa8766f0d9a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1699" r="1699"/>
          <a:stretch>
            <a:fillRect/>
          </a:stretch>
        </p:blipFill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000000"/>
                </a:solidFill>
              </a:rPr>
              <a:t>OpenRank榜单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000000"/>
                </a:solidFill>
              </a:rPr>
              <a:t>保留Top15期末与增长静态图，用于报告插图。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数据大屏分析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分析概况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1800"/>
              <a:t>本次分析覆盖163个开源软件项目的Issue积压情况，所有项目均因“用户反馈/需求未及时处理”触发告警，无无效告警记录。</a:t>
            </a:r>
            <a:endParaRPr lang="zh-CN" altLang="en-US" sz="1800"/>
          </a:p>
          <a:p>
            <a:r>
              <a:rPr lang="zh-CN" altLang="en-US" sz="1800"/>
              <a:t>首先展示数据大屏，然后我们将逐一分析每张图。</a:t>
            </a:r>
            <a:endParaRPr lang="zh-CN" altLang="en-US" sz="1800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ost_object_image_3040055510"/>
          <p:cNvPicPr>
            <a:picLocks noChangeAspect="1"/>
          </p:cNvPicPr>
          <p:nvPr/>
        </p:nvPicPr>
        <p:blipFill>
          <a:blip r:embed="rId1"/>
          <a:srcRect t="5136" b="4108"/>
          <a:stretch>
            <a:fillRect/>
          </a:stretch>
        </p:blipFill>
        <p:spPr>
          <a:xfrm>
            <a:off x="10335" y="0"/>
            <a:ext cx="12486126" cy="70859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告警类型分布</a:t>
            </a:r>
            <a:endParaRPr lang="zh-CN" altLang="en-US"/>
          </a:p>
        </p:txBody>
      </p:sp>
      <p:sp>
        <p:nvSpPr>
          <p:cNvPr id="7" name="内容占位符 6"/>
          <p:cNvSpPr/>
          <p:nvPr>
            <p:ph idx="16388"/>
            <p:custDataLst>
              <p:tags r:id="rId2"/>
            </p:custDataLst>
          </p:nvPr>
        </p:nvSpPr>
        <p:spPr>
          <a:solidFill>
            <a:srgbClr val="000000">
              <a:alpha val="10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4" name="装饰  7"/>
          <p:cNvSpPr>
            <a:spLocks noGrp="1"/>
          </p:cNvSpPr>
          <p:nvPr>
            <p:ph type="body" idx="16389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告警类型分布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这里我们选择用条形柱状图进行对比。</a:t>
            </a:r>
            <a:r>
              <a:rPr lang="en-US" altLang="zh-CN"/>
              <a:t>“Issue</a:t>
            </a:r>
            <a:r>
              <a:rPr lang="zh-CN" altLang="en-US"/>
              <a:t>积压上升</a:t>
            </a:r>
            <a:r>
              <a:rPr lang="en-US" altLang="zh-CN"/>
              <a:t>”</a:t>
            </a:r>
            <a:r>
              <a:rPr lang="zh-CN" altLang="en-US"/>
              <a:t>类告警共</a:t>
            </a:r>
            <a:r>
              <a:rPr lang="en-US" altLang="zh-CN"/>
              <a:t>95</a:t>
            </a:r>
            <a:r>
              <a:rPr lang="zh-CN" altLang="en-US"/>
              <a:t>个项目（占比</a:t>
            </a:r>
            <a:r>
              <a:rPr lang="en-US" altLang="zh-CN"/>
              <a:t>58.3%</a:t>
            </a:r>
            <a:r>
              <a:rPr lang="zh-CN" altLang="en-US"/>
              <a:t>），</a:t>
            </a:r>
            <a:r>
              <a:rPr lang="en-US" altLang="zh-CN"/>
              <a:t>“Issue</a:t>
            </a:r>
            <a:r>
              <a:rPr lang="zh-CN" altLang="en-US"/>
              <a:t>积压严重</a:t>
            </a:r>
            <a:r>
              <a:rPr lang="en-US" altLang="zh-CN"/>
              <a:t>”</a:t>
            </a:r>
            <a:r>
              <a:rPr lang="zh-CN" altLang="en-US"/>
              <a:t>类告警共</a:t>
            </a:r>
            <a:r>
              <a:rPr lang="en-US" altLang="zh-CN"/>
              <a:t>68</a:t>
            </a:r>
            <a:r>
              <a:rPr lang="zh-CN" altLang="en-US"/>
              <a:t>个项目（占比</a:t>
            </a:r>
            <a:r>
              <a:rPr lang="en-US" altLang="zh-CN"/>
              <a:t>41.7%</a:t>
            </a:r>
            <a:r>
              <a:rPr lang="zh-CN" altLang="en-US"/>
              <a:t>）。超半数项目处于</a:t>
            </a:r>
            <a:r>
              <a:rPr lang="en-US" altLang="zh-CN"/>
              <a:t>“Issue</a:t>
            </a:r>
            <a:r>
              <a:rPr lang="zh-CN" altLang="en-US"/>
              <a:t>积压初升期</a:t>
            </a:r>
            <a:r>
              <a:rPr lang="en-US" altLang="zh-CN"/>
              <a:t>”</a:t>
            </a:r>
            <a:r>
              <a:rPr lang="zh-CN" altLang="en-US"/>
              <a:t>，需及时介入避免问题恶化；近四成项目已达</a:t>
            </a:r>
            <a:r>
              <a:rPr lang="en-US" altLang="zh-CN"/>
              <a:t>“</a:t>
            </a:r>
            <a:r>
              <a:rPr lang="zh-CN" altLang="en-US"/>
              <a:t>严重积压</a:t>
            </a:r>
            <a:r>
              <a:rPr lang="en-US" altLang="zh-CN"/>
              <a:t>”</a:t>
            </a:r>
            <a:r>
              <a:rPr lang="zh-CN" altLang="en-US"/>
              <a:t>状态，需优先调配资源处理。</a:t>
            </a:r>
            <a:endParaRPr lang="zh-CN" altLang="en-US"/>
          </a:p>
        </p:txBody>
      </p:sp>
      <p:pic>
        <p:nvPicPr>
          <p:cNvPr id="8" name="图片 7" descr="post_object_image_26616709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25" y="1636689"/>
            <a:ext cx="8534400" cy="26193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项目积压TOP10</a:t>
            </a:r>
            <a:endParaRPr lang="zh-CN" altLang="en-US"/>
          </a:p>
        </p:txBody>
      </p:sp>
      <p:sp>
        <p:nvSpPr>
          <p:cNvPr id="7" name="内容占位符 6"/>
          <p:cNvSpPr/>
          <p:nvPr>
            <p:ph idx="16388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装饰  7"/>
          <p:cNvSpPr>
            <a:spLocks noGrp="1"/>
          </p:cNvSpPr>
          <p:nvPr>
            <p:ph type="body" idx="16389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项目积压TOP10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这里处理数据时首先进行了降序处理，然后筛选前十个数据进行展示，于是得到项目积压</a:t>
            </a:r>
            <a:r>
              <a:rPr lang="en-US" altLang="zh-CN"/>
              <a:t>TOP10</a:t>
            </a:r>
            <a:r>
              <a:rPr lang="zh-CN" altLang="en-US"/>
              <a:t>排名。TOP10项目的Issue积压数均显著高于均值（79.5），其中type-chall...项目积压数超1200，为本次数据中最严重的项目。少数项目存在“极端积压”问题，需针对这些项目开展专项Issue清理（如增加处理人力、优化响应流程）。</a:t>
            </a:r>
            <a:endParaRPr lang="zh-CN" altLang="en-US"/>
          </a:p>
        </p:txBody>
      </p:sp>
      <p:pic>
        <p:nvPicPr>
          <p:cNvPr id="8" name="图片 7" descr="post_object_image_6466502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61138"/>
            <a:ext cx="12192049" cy="3170477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告警阈值对比</a:t>
            </a:r>
            <a:endParaRPr lang="zh-CN" altLang="en-US"/>
          </a:p>
        </p:txBody>
      </p:sp>
      <p:sp>
        <p:nvSpPr>
          <p:cNvPr id="6" name="内容占位符 5"/>
          <p:cNvSpPr/>
          <p:nvPr>
            <p:ph idx="16388"/>
            <p:custDataLst>
              <p:tags r:id="rId2"/>
            </p:custDataLst>
          </p:nvPr>
        </p:nvSpPr>
        <p:spPr>
          <a:xfrm>
            <a:off x="609600" y="1524000"/>
            <a:ext cx="5588000" cy="3886170"/>
          </a:xfrm>
          <a:solidFill>
            <a:srgbClr val="000000">
              <a:alpha val="10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告警阈值对比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这里使用了</a:t>
            </a:r>
            <a:r>
              <a:rPr lang="zh-CN" altLang="en-US">
                <a:cs typeface="Arial" panose="020B0604020202020204" pitchFamily="34" charset="0"/>
              </a:rPr>
              <a:t>双轴横向柱状图用于对比。</a:t>
            </a:r>
            <a:r>
              <a:rPr lang="zh-CN" altLang="en-US"/>
              <a:t>“Issue积压严重”类项目平均Issue积压数约152，告警阈值为50；“Issue积压上升”类项目平均Issue积压数约27，告警阈值为10。两类告警的“积压数-阈值”比例均超过2倍，说明告警触发逻辑合理，且“严重积压”项目的实际风险远高于阈值线。</a:t>
            </a:r>
            <a:endParaRPr lang="zh-CN" altLang="en-US"/>
          </a:p>
          <a:p>
            <a:r>
              <a:rPr lang="zh-CN" altLang="en-US"/>
              <a:t>此外，注意到一个不容忽视的小缺陷，告警阈值仅有</a:t>
            </a:r>
            <a:r>
              <a:rPr lang="en-US" altLang="zh-CN"/>
              <a:t>10</a:t>
            </a:r>
            <a:r>
              <a:rPr lang="zh-CN" altLang="en-US"/>
              <a:t>和</a:t>
            </a:r>
            <a:r>
              <a:rPr lang="en-US" altLang="zh-CN"/>
              <a:t>50</a:t>
            </a:r>
            <a:r>
              <a:rPr lang="zh-CN" altLang="en-US"/>
              <a:t>之分，存在</a:t>
            </a:r>
            <a:r>
              <a:rPr lang="en-US" altLang="zh-CN"/>
              <a:t>“</a:t>
            </a:r>
            <a:r>
              <a:rPr lang="zh-CN" altLang="en-US"/>
              <a:t>阈值梯度不足、风险预警不精细</a:t>
            </a:r>
            <a:r>
              <a:rPr lang="en-US" altLang="zh-CN"/>
              <a:t>” </a:t>
            </a:r>
            <a:r>
              <a:rPr lang="zh-CN" altLang="en-US"/>
              <a:t>的问题，</a:t>
            </a:r>
            <a:r>
              <a:rPr lang="en-US" altLang="zh-CN"/>
              <a:t>“</a:t>
            </a:r>
            <a:r>
              <a:rPr lang="zh-CN" altLang="en-US"/>
              <a:t>重风险</a:t>
            </a:r>
            <a:r>
              <a:rPr lang="en-US" altLang="zh-CN"/>
              <a:t>” </a:t>
            </a:r>
            <a:r>
              <a:rPr lang="zh-CN" altLang="en-US"/>
              <a:t>项目的预警区分度不足（超</a:t>
            </a:r>
            <a:r>
              <a:rPr lang="en-US" altLang="zh-CN"/>
              <a:t> 2 </a:t>
            </a:r>
            <a:r>
              <a:rPr lang="zh-CN" altLang="en-US"/>
              <a:t>倍与超</a:t>
            </a:r>
            <a:r>
              <a:rPr lang="en-US" altLang="zh-CN"/>
              <a:t> 20 </a:t>
            </a:r>
            <a:r>
              <a:rPr lang="zh-CN" altLang="en-US"/>
              <a:t>倍的项目均归为</a:t>
            </a:r>
            <a:r>
              <a:rPr lang="en-US" altLang="zh-CN"/>
              <a:t> “</a:t>
            </a:r>
            <a:r>
              <a:rPr lang="zh-CN" altLang="en-US"/>
              <a:t>严重</a:t>
            </a:r>
            <a:r>
              <a:rPr lang="en-US" altLang="zh-CN"/>
              <a:t>”</a:t>
            </a:r>
            <a:r>
              <a:rPr lang="zh-CN" altLang="en-US"/>
              <a:t>）。建议细化阈值梯度，实现</a:t>
            </a:r>
            <a:r>
              <a:rPr lang="en-US" altLang="zh-CN"/>
              <a:t> “</a:t>
            </a:r>
            <a:r>
              <a:rPr lang="zh-CN" altLang="en-US"/>
              <a:t>多级预警</a:t>
            </a:r>
            <a:r>
              <a:rPr lang="en-US" altLang="zh-CN"/>
              <a:t>”</a:t>
            </a:r>
            <a:r>
              <a:rPr lang="zh-CN" altLang="en-US"/>
              <a:t>：将原有的</a:t>
            </a:r>
            <a:r>
              <a:rPr lang="en-US" altLang="zh-CN"/>
              <a:t> 2 </a:t>
            </a:r>
            <a:r>
              <a:rPr lang="zh-CN" altLang="en-US"/>
              <a:t>档阈值扩展为</a:t>
            </a:r>
            <a:r>
              <a:rPr lang="en-US" altLang="zh-CN"/>
              <a:t>3-4 </a:t>
            </a:r>
            <a:r>
              <a:rPr lang="zh-CN" altLang="en-US"/>
              <a:t>档，匹配更精细的风险等级，并向不同的负责人响应，可以提高风险反馈效率。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7" name="图片 6" descr="post_object_image_26160035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65" y="2296875"/>
            <a:ext cx="5588033" cy="2646575"/>
          </a:xfrm>
          <a:prstGeom prst="rect">
            <a:avLst/>
          </a:prstGeom>
          <a:solidFill>
            <a:srgbClr val="000000">
              <a:alpha val="100000"/>
            </a:srgbClr>
          </a:solidFill>
        </p:spPr>
      </p:pic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告警原因占比</a:t>
            </a:r>
            <a:endParaRPr lang="zh-CN" altLang="en-US"/>
          </a:p>
        </p:txBody>
      </p:sp>
      <p:sp>
        <p:nvSpPr>
          <p:cNvPr id="7" name="内容占位符 6"/>
          <p:cNvSpPr/>
          <p:nvPr>
            <p:ph idx="16388"/>
            <p:custDataLst>
              <p:tags r:id="rId2"/>
            </p:custDataLst>
          </p:nvPr>
        </p:nvSpPr>
        <p:spPr>
          <a:solidFill>
            <a:srgbClr val="000000">
              <a:alpha val="10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4" name="装饰  7"/>
          <p:cNvSpPr>
            <a:spLocks noGrp="1"/>
          </p:cNvSpPr>
          <p:nvPr>
            <p:ph type="body" idx="16389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告警原因占比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“新增Issue&gt;关闭Issue（积压开始累积）”占比58.28%，“新增-关闭Issue&gt;50（积压快速上升）”占比41.72%。Issue积压的核心原因是“新增量大于处理量”，近四成项目的“新增-关闭差”已突破50，需重点优化Issue处理效率。</a:t>
            </a:r>
            <a:endParaRPr lang="zh-CN" altLang="en-US"/>
          </a:p>
        </p:txBody>
      </p:sp>
      <p:pic>
        <p:nvPicPr>
          <p:cNvPr id="8" name="图片 7" descr="post_object_image_9142443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00" y="3403582"/>
            <a:ext cx="8412356" cy="2844803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风险</a:t>
            </a:r>
            <a:r>
              <a:rPr lang="zh-CN" altLang="en-US">
                <a:cs typeface="Arial" panose="020B0604020202020204" pitchFamily="34" charset="0"/>
              </a:rPr>
              <a:t>总结</a:t>
            </a:r>
            <a:r>
              <a:rPr lang="zh-CN" altLang="en-US"/>
              <a:t>与行动建议</a:t>
            </a:r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65480" y="1456055"/>
            <a:ext cx="10897235" cy="4584700"/>
          </a:xfrm>
          <a:prstGeom prst="rect">
            <a:avLst/>
          </a:prstGeom>
          <a:ln>
            <a:solidFill>
              <a:srgbClr val="868686">
                <a:alpha val="100000"/>
              </a:srgbClr>
            </a:solidFill>
          </a:ln>
        </p:spPr>
        <p:txBody>
          <a:bodyPr wrap="square" rtlCol="0">
            <a:spAutoFit/>
          </a:bodyPr>
          <a:p>
            <a:r>
              <a:rPr lang="zh-CN" altLang="en-US" sz="2000" b="1"/>
              <a:t>风险总结</a:t>
            </a:r>
            <a:endParaRPr lang="zh-CN" altLang="en-US" sz="2000" b="1"/>
          </a:p>
          <a:p>
            <a:r>
              <a:rPr lang="zh-CN" altLang="en-US"/>
              <a:t>当前项目</a:t>
            </a:r>
            <a:r>
              <a:rPr lang="en-US" altLang="zh-CN"/>
              <a:t> Issue </a:t>
            </a:r>
            <a:r>
              <a:rPr lang="zh-CN" altLang="en-US"/>
              <a:t>管理的核心矛盾是</a:t>
            </a:r>
            <a:r>
              <a:rPr lang="en-US" altLang="zh-CN"/>
              <a:t> “</a:t>
            </a:r>
            <a:r>
              <a:rPr lang="zh-CN" altLang="en-US"/>
              <a:t>新增量与处理能力不匹配</a:t>
            </a:r>
            <a:r>
              <a:rPr lang="en-US" altLang="zh-CN"/>
              <a:t>”</a:t>
            </a:r>
            <a:r>
              <a:rPr lang="zh-CN" altLang="en-US"/>
              <a:t>，风险呈现</a:t>
            </a:r>
            <a:r>
              <a:rPr lang="en-US" altLang="zh-CN"/>
              <a:t> “</a:t>
            </a:r>
            <a:r>
              <a:rPr lang="zh-CN" altLang="en-US"/>
              <a:t>分散化</a:t>
            </a:r>
            <a:r>
              <a:rPr lang="en-US" altLang="zh-CN"/>
              <a:t> + </a:t>
            </a:r>
            <a:r>
              <a:rPr lang="zh-CN" altLang="en-US"/>
              <a:t>极端化</a:t>
            </a:r>
            <a:r>
              <a:rPr lang="en-US" altLang="zh-CN"/>
              <a:t>” </a:t>
            </a:r>
            <a:r>
              <a:rPr lang="zh-CN" altLang="en-US"/>
              <a:t>特征：多数项目处于轻风险阶段，但少数项目已出现严重积压。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sz="2000" b="1"/>
              <a:t>行动建议</a:t>
            </a:r>
            <a:endParaRPr lang="zh-CN" altLang="en-US" sz="2000" b="1"/>
          </a:p>
          <a:p>
            <a:r>
              <a:rPr lang="zh-CN" altLang="en-US"/>
              <a:t>一方面为处理积压问题：</a:t>
            </a:r>
            <a:endParaRPr lang="zh-CN" altLang="en-US"/>
          </a:p>
          <a:p>
            <a:r>
              <a:rPr lang="zh-CN" altLang="en-US"/>
              <a:t>分层处置风险：优先清理</a:t>
            </a:r>
            <a:r>
              <a:rPr lang="en-US" altLang="zh-CN"/>
              <a:t> 68 </a:t>
            </a:r>
            <a:r>
              <a:rPr lang="zh-CN" altLang="en-US"/>
              <a:t>个</a:t>
            </a:r>
            <a:r>
              <a:rPr lang="en-US" altLang="zh-CN"/>
              <a:t> “</a:t>
            </a:r>
            <a:r>
              <a:rPr lang="zh-CN" altLang="en-US"/>
              <a:t>严重积压</a:t>
            </a:r>
            <a:r>
              <a:rPr lang="en-US" altLang="zh-CN"/>
              <a:t>” </a:t>
            </a:r>
            <a:r>
              <a:rPr lang="zh-CN" altLang="en-US"/>
              <a:t>项目，同步跟进</a:t>
            </a:r>
            <a:r>
              <a:rPr lang="en-US" altLang="zh-CN"/>
              <a:t> 95 </a:t>
            </a:r>
            <a:r>
              <a:rPr lang="zh-CN" altLang="en-US"/>
              <a:t>个</a:t>
            </a:r>
            <a:r>
              <a:rPr lang="en-US" altLang="zh-CN"/>
              <a:t> “</a:t>
            </a:r>
            <a:r>
              <a:rPr lang="zh-CN" altLang="en-US"/>
              <a:t>积压上升</a:t>
            </a:r>
            <a:r>
              <a:rPr lang="en-US" altLang="zh-CN"/>
              <a:t>” </a:t>
            </a:r>
            <a:r>
              <a:rPr lang="zh-CN" altLang="en-US"/>
              <a:t>项目，避免小风险演变为大问题；</a:t>
            </a:r>
            <a:endParaRPr lang="zh-CN" altLang="en-US"/>
          </a:p>
          <a:p>
            <a:r>
              <a:rPr lang="zh-CN" altLang="en-US"/>
              <a:t>聚焦极端项目：对</a:t>
            </a:r>
            <a:r>
              <a:rPr lang="en-US" altLang="zh-CN"/>
              <a:t> TOP10 </a:t>
            </a:r>
            <a:r>
              <a:rPr lang="zh-CN" altLang="en-US"/>
              <a:t>高积压项目建立</a:t>
            </a:r>
            <a:r>
              <a:rPr lang="en-US" altLang="zh-CN"/>
              <a:t> “</a:t>
            </a:r>
            <a:r>
              <a:rPr lang="zh-CN" altLang="en-US"/>
              <a:t>周进度同步</a:t>
            </a:r>
            <a:r>
              <a:rPr lang="en-US" altLang="zh-CN"/>
              <a:t>” </a:t>
            </a:r>
            <a:r>
              <a:rPr lang="zh-CN" altLang="en-US"/>
              <a:t>机制，明确</a:t>
            </a:r>
            <a:r>
              <a:rPr lang="en-US" altLang="zh-CN"/>
              <a:t> Issue </a:t>
            </a:r>
            <a:r>
              <a:rPr lang="zh-CN" altLang="en-US"/>
              <a:t>处理的优先级与责任人；</a:t>
            </a:r>
            <a:endParaRPr lang="zh-CN" altLang="en-US"/>
          </a:p>
          <a:p>
            <a:r>
              <a:rPr lang="zh-CN" altLang="en-US"/>
              <a:t>优化处理流程：针对</a:t>
            </a:r>
            <a:r>
              <a:rPr lang="en-US" altLang="zh-CN"/>
              <a:t> “</a:t>
            </a:r>
            <a:r>
              <a:rPr lang="zh-CN" altLang="en-US"/>
              <a:t>新增</a:t>
            </a:r>
            <a:r>
              <a:rPr lang="en-US" altLang="zh-CN"/>
              <a:t>&gt; </a:t>
            </a:r>
            <a:r>
              <a:rPr lang="zh-CN" altLang="en-US"/>
              <a:t>关闭</a:t>
            </a:r>
            <a:r>
              <a:rPr lang="en-US" altLang="zh-CN"/>
              <a:t>” </a:t>
            </a:r>
            <a:r>
              <a:rPr lang="zh-CN" altLang="en-US"/>
              <a:t>的核心原因，推广</a:t>
            </a:r>
            <a:r>
              <a:rPr lang="en-US" altLang="zh-CN"/>
              <a:t> “</a:t>
            </a:r>
            <a:r>
              <a:rPr lang="zh-CN" altLang="en-US"/>
              <a:t>高优先级</a:t>
            </a:r>
            <a:r>
              <a:rPr lang="en-US" altLang="zh-CN"/>
              <a:t> Issue1 </a:t>
            </a:r>
            <a:r>
              <a:rPr lang="zh-CN" altLang="en-US"/>
              <a:t>小时响应</a:t>
            </a:r>
            <a:r>
              <a:rPr lang="en-US" altLang="zh-CN"/>
              <a:t>”“</a:t>
            </a:r>
            <a:r>
              <a:rPr lang="zh-CN" altLang="en-US"/>
              <a:t>低优先级</a:t>
            </a:r>
            <a:r>
              <a:rPr lang="en-US" altLang="zh-CN"/>
              <a:t> Issue </a:t>
            </a:r>
            <a:r>
              <a:rPr lang="zh-CN" altLang="en-US"/>
              <a:t>自动化归类</a:t>
            </a:r>
            <a:r>
              <a:rPr lang="en-US" altLang="zh-CN"/>
              <a:t>” </a:t>
            </a:r>
            <a:r>
              <a:rPr lang="zh-CN" altLang="en-US"/>
              <a:t>等提效措施。</a:t>
            </a:r>
            <a:endParaRPr lang="zh-CN" altLang="en-US"/>
          </a:p>
          <a:p>
            <a:r>
              <a:rPr lang="zh-CN" altLang="en-US"/>
              <a:t>另一方面为优化响应机制：</a:t>
            </a:r>
            <a:endParaRPr lang="zh-CN" altLang="en-US"/>
          </a:p>
          <a:p>
            <a:r>
              <a:rPr lang="zh-CN" altLang="en-US"/>
              <a:t>细化阈值梯度，实现</a:t>
            </a:r>
            <a:r>
              <a:rPr lang="en-US" altLang="zh-CN"/>
              <a:t> “</a:t>
            </a:r>
            <a:r>
              <a:rPr lang="zh-CN" altLang="en-US"/>
              <a:t>多级预警</a:t>
            </a:r>
            <a:r>
              <a:rPr lang="en-US" altLang="zh-CN"/>
              <a:t>”</a:t>
            </a:r>
            <a:r>
              <a:rPr lang="zh-CN" altLang="en-US"/>
              <a:t>：将原有的</a:t>
            </a:r>
            <a:r>
              <a:rPr lang="en-US" altLang="zh-CN"/>
              <a:t> 2 </a:t>
            </a:r>
            <a:r>
              <a:rPr lang="zh-CN" altLang="en-US"/>
              <a:t>档阈值扩展为</a:t>
            </a:r>
            <a:r>
              <a:rPr lang="en-US" altLang="zh-CN"/>
              <a:t>3-4 </a:t>
            </a:r>
            <a:r>
              <a:rPr lang="zh-CN" altLang="en-US"/>
              <a:t>档，匹配更精细的风险等级，并向不同的负责人响应，以提高风险反馈效率。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补充</a:t>
            </a:r>
            <a:r>
              <a:rPr lang="zh-CN" altLang="en-US">
                <a:cs typeface="Arial" panose="020B0604020202020204" pitchFamily="34" charset="0"/>
              </a:rPr>
              <a:t>说明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只选alerts_end.csv分析的原因说明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数据字段为空问题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issue_ops_long.csv与pr_ops_long.csv中响应时长/解决时长相关字段几乎全为空。</a:t>
            </a:r>
            <a:endParaRPr lang="zh-CN" altLang="en-US"/>
          </a:p>
        </p:txBody>
      </p:sp>
      <p:sp>
        <p:nvSpPr>
          <p:cNvPr id="6" name="装饰  4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健康度数据失真影响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健康度数据失真导致health_score无法计算（大量NA），健康度分层（红/黄/绿）失真，无法支撑可靠大屏展示。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大屏数据选择方案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大屏优先选alerts_end.csv，因其数据完整、规则清晰、可解释性强，能稳定生成预警，适合治理看板。此外，我们还分析了</a:t>
            </a:r>
            <a:r>
              <a:rPr lang="en-US" altLang="zh-CN"/>
              <a:t>openrank_long.csv</a:t>
            </a:r>
            <a:r>
              <a:rPr lang="zh-CN" altLang="en-US"/>
              <a:t>并做成数据可视化大屏，由于与我们所选研究问题关联度不高，遂没有进行深入分析。</a:t>
            </a:r>
            <a:endParaRPr lang="zh-CN" altLang="en-US"/>
          </a:p>
        </p:txBody>
      </p:sp>
      <p:pic>
        <p:nvPicPr>
          <p:cNvPr id="12" name="图片 11" descr="post_object_image_362958815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7424" y="1523951"/>
            <a:ext cx="8477250" cy="48006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数据文件说明</a:t>
            </a:r>
            <a:endParaRPr lang="zh-CN" altLang="en-US"/>
          </a:p>
        </p:txBody>
      </p:sp>
      <p:pic>
        <p:nvPicPr>
          <p:cNvPr id="3" name="图片占位符 2" descr="ad4d3f9f-f032-11f0-9fa6-5a6440b3933e"/>
          <p:cNvPicPr>
            <a:picLocks noChangeAspect="1"/>
          </p:cNvPicPr>
          <p:nvPr>
            <p:ph type="pic" idx="16392"/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核心数据文件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openrank_top_end.csv/png：2023-03 OpenRank Top1；openrank_top_growth.csv/png：区间增长Top15；alerts_end.csv：2023-03净积压预警清单（大屏核心数据）</a:t>
            </a:r>
            <a:endParaRPr lang="zh-CN" altLang="en-US"/>
          </a:p>
        </p:txBody>
      </p:sp>
      <p:pic>
        <p:nvPicPr>
          <p:cNvPr id="6" name="图片占位符 5" descr="ad4d3f91-f032-11f0-9fa6-5a6440b3933e"/>
          <p:cNvPicPr>
            <a:picLocks noChangeAspect="1"/>
          </p:cNvPicPr>
          <p:nvPr>
            <p:ph type="pic" idx="16393"/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运营时序与健康度文件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issue_ops_long.csv：Issue运营时序表（99个月）\npr_ops_long.csv：PR运营时序表（99个月）\nhealth_score_end.csv：end月健康度尝试（health_score为NA，因关键字段缺失）</a:t>
            </a:r>
            <a:endParaRPr lang="zh-CN" altLang="en-US"/>
          </a:p>
        </p:txBody>
      </p:sp>
      <p:pic>
        <p:nvPicPr>
          <p:cNvPr id="9" name="图片占位符 8" descr="ad4d3f85-f032-11f0-9fa6-5a6440b3933e"/>
          <p:cNvPicPr>
            <a:picLocks noChangeAspect="1"/>
          </p:cNvPicPr>
          <p:nvPr>
            <p:ph type="pic" idx="16394"/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数据处理脚本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build_long_tables.py与build_health_and_alerts.py均为数据处理脚本。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净积压与预警规则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acea4200-f032-11f0-8117-3af8ee12ae52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6667" r="16667"/>
          <a:stretch>
            <a:fillRect/>
          </a:stretch>
        </p:blipFill>
        <p:spPr>
          <a:xfrm>
            <a:off x="2108200" y="19558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净积压变化量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计算方式为issues_new减issues_closed，按repo和month统计。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acea4259-f032-11f0-8117-3af8ee12ae52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7747000" y="19558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预警分层规则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上升预警当净积压变化量大于10，严重预警则大于50。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26bb07ece3fa59affe0b8b798f39f01b1fc106"/>
  <p:tag name="KSO_WM_NEWLAYOUT_GROUP_ID" val="layout_31"/>
  <p:tag name="KSO_WM_NEWLAYOUT_ID" val="slide_d326cc5a9d07c076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c8997e3529bb1f77064a1c24993ba2fed762629"/>
  <p:tag name="KSO_WM_NEWLAYOUT_GROUP_ID" val="layout_34"/>
  <p:tag name="KSO_WM_NEWLAYOUT_ID" val="slide_4acdb5d565d7a68b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340a7552a9f66b5b294df3add9777cca4737f2e"/>
  <p:tag name="KSO_WM_NEWLAYOUT_GROUP_ID" val="layout_6"/>
  <p:tag name="KSO_WM_NEWLAYOUT_ID" val="slide_eed479e195e559c9"/>
</p:tagLst>
</file>

<file path=ppt/tags/tag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b9c0c57da9a08f291da02abfc77c534ee8672e"/>
  <p:tag name="KSO_WM_NEWLAYOUT_GROUP_ID" val="layout_27"/>
  <p:tag name="KSO_WM_NEWLAYOUT_ID" val="slide_928d7369a50b66e3"/>
</p:tagLst>
</file>

<file path=ppt/tags/tag4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f0eff5556db37038984e3652433b878474ae5b"/>
  <p:tag name="KSO_WM_NEWLAYOUT_GROUP_ID" val="layout_10004"/>
  <p:tag name="KSO_WM_NEWLAYOUT_ID" val="slide_e0ba20cb02247c91"/>
</p:tagLst>
</file>

<file path=ppt/tags/tag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55f4354d333ad142374fb695182d23ee97db9f"/>
  <p:tag name="KSO_WM_NEWLAYOUT_GROUP_ID" val="layout_51"/>
  <p:tag name="KSO_WM_NEWLAYOUT_ID" val="slide_3461ed1a5b67fef1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7e5f7213ced768da00f5adb75c5a844fac9f811"/>
  <p:tag name="KSO_WM_NEWLAYOUT_GROUP_ID" val="layout_26"/>
  <p:tag name="KSO_WM_NEWLAYOUT_ID" val="slide_b2de6cdc31e57afd"/>
</p:tagLst>
</file>

<file path=ppt/tags/tag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aeaeacba9a2b9691bcfeac74a23d8d895e6d85"/>
  <p:tag name="KSO_WM_NEWLAYOUT_GROUP_ID" val="layout_60"/>
  <p:tag name="KSO_WM_NEWLAYOUT_ID" val="slide_35d83bc1f2dde6a1"/>
</p:tagLst>
</file>

<file path=ppt/tags/tag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95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45cb3d9152bfb738ef1b2b05f4f79de6c48b033"/>
  <p:tag name="KSO_WM_NEWLAYOUT_GROUP_ID" val="layout_42"/>
  <p:tag name="KSO_WM_NEWLAYOUT_ID" val="slide_6d6aa6c8b5b8e23d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afaa3c414e58efe924774345b9f2969d48b86df"/>
  <p:tag name="KSO_WM_NEWLAYOUT_GROUP_ID" val="layout_4"/>
  <p:tag name="KSO_WM_NEWLAYOUT_ID" val="slide_deffedd1e5c41aaf"/>
</p:tagLst>
</file>

<file path=ppt/tags/tag1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13a35c46ae07c952596e6e1ad1eb6476019bf7d"/>
  <p:tag name="KSO_WM_NEWLAYOUT_GROUP_ID" val="layout_59"/>
  <p:tag name="KSO_WM_NEWLAYOUT_ID" val="slide_a0139072b4997ff5"/>
</p:tagLst>
</file>

<file path=ppt/tags/tag1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6d1e08cdf62d8a992d9e6eb51283182125ce24"/>
  <p:tag name="KSO_WM_NEWLAYOUT_GROUP_ID" val="layout_23"/>
  <p:tag name="KSO_WM_NEWLAYOUT_ID" val="slide_273012be9a0a3a43"/>
</p:tagLst>
</file>

<file path=ppt/tags/tag1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4cd4493e5a4290ccbd6dd553efa88567189ca52"/>
  <p:tag name="KSO_WM_NEWLAYOUT_GROUP_ID" val="layout_2"/>
  <p:tag name="KSO_WM_NEWLAYOUT_ID" val="slide_b1cc77b2a84ed970"/>
</p:tagLst>
</file>

<file path=ppt/tags/tag1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16ca4fb028699bb641766b03eeb286bf2e5a7e"/>
  <p:tag name="KSO_WM_NEWLAYOUT_GROUP_ID" val="layout_10014"/>
  <p:tag name="KSO_WM_NEWLAYOUT_ID" val="slide_89f9a9d80b13df0c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05cf1996281ae669ddc9c068d5e9d1d4230be5e"/>
  <p:tag name="KSO_WM_NEWLAYOUT_GROUP_ID" val="layout_57"/>
  <p:tag name="KSO_WM_NEWLAYOUT_ID" val="slide_2dcca3900a93bfc0"/>
</p:tagLst>
</file>

<file path=ppt/tags/tag15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a4e4e2686cd06e47fd227a0fc5a2e47b4ed2a4a"/>
  <p:tag name="KSO_WM_NEWLAYOUT_GROUP_ID" val="layout_30"/>
  <p:tag name="KSO_WM_NEWLAYOUT_ID" val="slide_54f392b767b7b7a8"/>
</p:tagLst>
</file>

<file path=ppt/tags/tag1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0913eb1491d2ddeb79c5a3ae5df39a0f5ca02c"/>
  <p:tag name="KSO_WM_NEWLAYOUT_GROUP_ID" val="layout_63"/>
  <p:tag name="KSO_WM_NEWLAYOUT_ID" val="slide_bf4a5822a39e10dd"/>
</p:tagLst>
</file>

<file path=ppt/tags/tag1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1d44bb9e481141db97c30fd2619270ed2fd976f7"/>
  <p:tag name="KSO_WM_NEWLAYOUT_GROUP_ID" val="layout_1-5"/>
  <p:tag name="KSO_WM_NEWLAYOUT_ID" val="slide_cea45c27deb23863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0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20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573"/>
  <p:tag name="KSO_WM_TEMPLATE_CATEGORY" val="custom"/>
</p:tagLst>
</file>

<file path=ppt/tags/tag21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21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7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1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73"/>
  <p:tag name="KSO_WM_TEMPLATE_CATEGORY" val="custom"/>
</p:tagLst>
</file>

<file path=ppt/tags/tag222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223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73"/>
  <p:tag name="KSO_WM_TEMPLATE_CATEGORY" val="custom"/>
</p:tagLst>
</file>

<file path=ppt/tags/tag224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22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2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23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3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24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2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1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5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44bfd2419cae341c63cea49430d15869841f40"/>
  <p:tag name="KSO_WM_NEWLAYOUT_ID" val="1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7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</p:tagLst>
</file>

<file path=ppt/tags/tag28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</p:tagLst>
</file>

<file path=ppt/tags/tag29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</p:tagLst>
</file>

<file path=ppt/tags/tag29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</p:tagLst>
</file>

<file path=ppt/tags/tag29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1"/>
  <p:tag name="KSO_WM_UNIT_SUBTYPE" val="d"/>
  <p:tag name="KSO_WM_UNIT_TYPE" val="l_h_i"/>
</p:tagLst>
</file>

<file path=ppt/tags/tag29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3d59cd1ee3c40a8e0c1d71ea61cd6e76161a0a5"/>
  <p:tag name="KSO_WM_NEWLAYOUT_ID" val="slide_9547ab25099e8887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3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259ce293029af6c02c31c32cd0cd0b254754915"/>
  <p:tag name="KSO_WM_NEWLAYOUT_ID" val="slide_954019a2d98464e1"/>
</p:tagLst>
</file>

<file path=ppt/tags/tag3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1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60018c495662c64ce5a6e81eb928563b498d77a"/>
  <p:tag name="KSO_WM_NEWLAYOUT_ID" val="slide_6286c17b92bb733e"/>
</p:tagLst>
</file>

<file path=ppt/tags/tag3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bd8f99173fbddb29eb95eb11169d57764936ff"/>
  <p:tag name="KSO_WM_NEWLAYOUT_ID" val="slide_2dc851f69fcadb0b"/>
</p:tagLst>
</file>

<file path=ppt/tags/tag3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087895767dbbb77b469f9205d87155da3ed5ce"/>
  <p:tag name="KSO_WM_NEWLAYOUT_ID" val="slide_3378e5420af9a013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1aeb9c1c8f3ea0a0ded04b9ca04d0720a4a8e0b"/>
  <p:tag name="KSO_WM_NEWLAYOUT_ID" val="slide_a0139072b4997ff5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65d98c4e4ea4d2ad768c98d19c9fce14e9416d4"/>
  <p:tag name="KSO_WM_NEWLAYOUT_ID" val="slide_366fb304533f48a4"/>
</p:tagLst>
</file>

<file path=ppt/tags/tag3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40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slide_0e3763c640ea4c61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3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34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4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1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352.xml><?xml version="1.0" encoding="utf-8"?>
<p:tagLst xmlns:p="http://schemas.openxmlformats.org/presentationml/2006/main">
  <p:tag name="KSO_WM_AITEMPLATE_STYLE_ID" val="69796640259"/>
</p:tagLst>
</file>

<file path=ppt/tags/tag35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5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6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SLIDE_INDEX" val="1"/>
  <p:tag name="KSO_WM_SLIDE_ID" val="custom40490573_1"/>
  <p:tag name="KSO_WM_TEMPLATE_MASTER_TYPE" val="0"/>
  <p:tag name="KSO_WM_SLIDE_LAYOUT" val="a_f"/>
  <p:tag name="KSO_WM_SLIDE_LAYOUT_CNT" val="1_2"/>
  <p:tag name="KSO_WM_TAG_VERSION" val="3.0"/>
</p:tagLst>
</file>

<file path=ppt/tags/tag3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44bfd2419cae341c63cea49430d15869841f40"/>
  <p:tag name="KSO_WM_NEWLAYOUT_ID" val="1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7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7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73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0913eb1491d2ddeb79c5a3ae5df39a0f5ca02c"/>
  <p:tag name="KSO_WM_NEWLAYOUT_GROUP_ID" val="layout_63"/>
  <p:tag name="KSO_WM_NEWLAYOUT_ID" val="slide_bf4a5822a39e10dd"/>
  <p:tag name="KSO_WM_UNIT_PRESET_TEXT" val="单击此处添加标题"/>
</p:tagLst>
</file>

<file path=ppt/tags/tag3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1/a9aa743c-0362-4541-93b1-e8b0cc952ed4.jpg?Expires=1799812088\u0026AWSAccessKeyId=AKLT9NSy7kh8TIS1UzNqLRY2\u0026Signature=k9%2FvazyXFEk5mSUIkj0ZnpNYm1Q%3D&quot;,&quot;product_name&quot;:&quot;wps-wpp-pc&quot;,&quot;intention_code&quot;:&quot;wps_wpp_generate_doc_pay&quot;}*auto_qingqiu_3.0.4_Mock_V1_prod*1768276082562_ab8173_ccc12f704712-slide-3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bf4a5822a39e10dd"/>
</p:tagLst>
</file>

<file path=ppt/tags/tag38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8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83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05cf1996281ae669ddc9c068d5e9d1d4230be5e"/>
  <p:tag name="KSO_WM_NEWLAYOUT_GROUP_ID" val="layout_57"/>
  <p:tag name="KSO_WM_NEWLAYOUT_ID" val="slide_2dcca3900a93bfc0"/>
  <p:tag name="KSO_WM_UNIT_PRESET_TEXT" val="单击此处添加标题"/>
</p:tagLst>
</file>

<file path=ppt/tags/tag38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211385657726&quot;,&quot;product_name&quot;:&quot;wps-wpp-pc&quot;,&quot;intention_code&quot;:&quot;wps_wpp_generate_doc_pay&quot;}*auto_gallery_3.0.4_Mock_V1_prod*1768276082562_ab8173_ccc12f704712-slide-6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e6358ba7-1f5f-4de6-9738-daa44a69b2cd.jpg?Expires=1799812088\u0026AWSAccessKeyId=AKLT9NSy7kh8TIS1UzNqLRY2\u0026Signature=jdvb6Cow5%2BuGwIIHemypPsUJ3Zg%3D&quot;,&quot;product_name&quot;:&quot;wps-wpp-pc&quot;,&quot;intention_code&quot;:&quot;wps_wpp_generate_doc_pay&quot;}*auto_qingqiu_3.0.4_Mock_V1_prod*1768276082562_ab8173_ccc12f704712-slide-6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2dcca3900a93bfc0"/>
</p:tagLst>
</file>

<file path=ppt/tags/tag3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a16ca4fb028699bb641766b03eeb286bf2e5a7e"/>
  <p:tag name="KSO_WM_NEWLAYOUT_GROUP_ID" val="layout_10014"/>
  <p:tag name="KSO_WM_NEWLAYOUT_ID" val="slide_89f9a9d80b13df0c"/>
  <p:tag name="KSO_WM_UNIT_PRESET_TEXT" val="单击此处添加标题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1/3e831c34-ca24-42dc-9a3c-b174285d70fe.jpg?Expires=1799812088\u0026AWSAccessKeyId=AKLT9NSy7kh8TIS1UzNqLRY2\u0026Signature=mK6MrlAGhZuyO%2BILxe4d8du%2BG9w%3D&quot;,&quot;product_name&quot;:&quot;wps-wpp-pc&quot;,&quot;intention_code&quot;:&quot;wps_wpp_generate_doc_pay&quot;}*auto_qingqiu_3.0.4_Mock_V1_prod*1768276082562_ab8173_ccc12f704712-slide-7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s://sjzg-images.ks3-cn-beijing-internal.ksyun.com/tim_gen_images/doubao_gen/00e891979c98881e3700b626540566c3_0.png?Expires=1768362484\u0026AWSAccessKeyId=AKLTHzmNYxS86KQFnb2pvxtA\u0026Signature=nMli9eoW%2FVHEE8p8ZpQuupfZfcI%3D&quot;,&quot;product_name&quot;:&quot;wps-wpp-pc&quot;,&quot;intention_code&quot;:&quot;wps_wpp_generate_doc_pay&quot;}*auto_cache_hit_3.0.4_Mock_V1_prod*1768276082562_ab8173_ccc12f704712-slide-7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89f9a9d80b13df0c"/>
</p:tagLst>
</file>

<file path=ppt/tags/tag4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4cd4493e5a4290ccbd6dd553efa88567189ca52"/>
  <p:tag name="KSO_WM_NEWLAYOUT_GROUP_ID" val="layout_2"/>
  <p:tag name="KSO_WM_NEWLAYOUT_ID" val="slide_b1cc77b2a84ed970"/>
  <p:tag name="KSO_WM_UNIT_PRESET_TEXT" val="单击此处添加标题"/>
</p:tagLst>
</file>

<file path=ppt/tags/tag4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s://sjzg-images.ks3-cn-beijing-internal.ksyun.com/tim_gen_images/doubao_gen/e5096246ab8b934e01a09d7597de08a1_0.png?Expires=1768362484\u0026AWSAccessKeyId=AKLTHzmNYxS86KQFnb2pvxtA\u0026Signature=oXFFy8%2Bm%2Fpi3VybsW58tiNainVE%3D&quot;,&quot;product_name&quot;:&quot;wps-wpp-pc&quot;,&quot;intention_code&quot;:&quot;wps_wpp_generate_doc_pay&quot;}*auto_cache_hit_3.0.4_Mock_V1_prod*1768276082562_ab8173_ccc12f704712-slide-8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s://sjzg-images.ks3-cn-beijing-internal.ksyun.com/tim_gen_images/doubao_gen/c3662d45060f3f96106eece38db82773_0.png?Expires=1768362484\u0026AWSAccessKeyId=AKLTHzmNYxS86KQFnb2pvxtA\u0026Signature=oklMwiFU46Bpa%2FeeLkwcoQoZzVU%3D&quot;,&quot;product_name&quot;:&quot;wps-wpp-pc&quot;,&quot;intention_code&quot;:&quot;wps_wpp_generate_doc_pay&quot;}*auto_cache_hit_3.0.4_Mock_V1_prod*1768276082562_ab8173_ccc12f704712-slide-8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b1cc77b2a84ed970"/>
</p:tagLst>
</file>

<file path=ppt/tags/tag41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13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14.xml><?xml version="1.0" encoding="utf-8"?>
<p:tagLst xmlns:p="http://schemas.openxmlformats.org/presentationml/2006/main">
  <p:tag name="KSO_WM_TEMPLATE_SUBCATEGORY" val="29"/>
  <p:tag name="KSO_WM_BEAUTIFY_FLAG" val="#wm#"/>
  <p:tag name="KSO_WM_SLIDE_TYPE" val="sectionTitle"/>
</p:tagLst>
</file>

<file path=ppt/tags/tag4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slide_0e3763c640ea4c61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"/>
  <p:tag name="KSO_WM_UNIT_TYPE" val="f"/>
</p:tagLst>
</file>

<file path=ppt/tags/tag417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4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bd8f99173fbddb29eb95eb11169d57764936ff"/>
  <p:tag name="KSO_WM_NEWLAYOUT_ID" val="slide_2dc851f69fcadb0b"/>
</p:tagLst>
</file>

<file path=ppt/tags/tag4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2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3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2dc851f69fcadb0b"/>
</p:tagLst>
</file>

<file path=ppt/tags/tag4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bd8f99173fbddb29eb95eb11169d57764936ff"/>
  <p:tag name="KSO_WM_NEWLAYOUT_ID" val="slide_2dc851f69fcadb0b"/>
</p:tagLst>
</file>

<file path=ppt/tags/tag4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2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9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2dc851f69fcadb0b"/>
</p:tagLst>
</file>

<file path=ppt/tags/tag4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087895767dbbb77b469f9205d87155da3ed5ce"/>
  <p:tag name="KSO_WM_NEWLAYOUT_ID" val="slide_3378e5420af9a013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4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3378e5420af9a013"/>
</p:tagLst>
</file>

<file path=ppt/tags/tag4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1aeb9c1c8f3ea0a0ded04b9ca04d0720a4a8e0b"/>
  <p:tag name="KSO_WM_NEWLAYOUT_ID" val="slide_a0139072b4997ff5"/>
</p:tagLst>
</file>

<file path=ppt/tags/tag4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3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0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a0139072b4997ff5"/>
</p:tagLst>
</file>

<file path=ppt/tags/tag4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65d98c4e4ea4d2ad768c98d19c9fce14e9416d4"/>
  <p:tag name="KSO_WM_NEWLAYOUT_ID" val="slide_366fb304533f48a4"/>
</p:tagLst>
</file>

<file path=ppt/tags/tag442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366fb304533f48a4"/>
</p:tagLst>
</file>

<file path=ppt/tags/tag44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44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4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4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f0eff5556db37038984e3652433b878474ae5b"/>
  <p:tag name="KSO_WM_NEWLAYOUT_GROUP_ID" val="layout_10004"/>
  <p:tag name="KSO_WM_NEWLAYOUT_ID" val="slide_e0ba20cb02247c91"/>
  <p:tag name="KSO_WM_UNIT_PRESET_TEXT" val="单击此处添加标题"/>
</p:tagLst>
</file>

<file path=ppt/tags/tag4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5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e0ba20cb02247c91"/>
</p:tagLst>
</file>

<file path=ppt/tags/tag4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c8997e3529bb1f77064a1c24993ba2fed762629"/>
  <p:tag name="KSO_WM_NEWLAYOUT_GROUP_ID" val="layout_34"/>
  <p:tag name="KSO_WM_NEWLAYOUT_ID" val="slide_4acdb5d565d7a68b"/>
  <p:tag name="KSO_WM_UNIT_PRESET_TEXT" val="单击此处添加标题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1/8faf4cf1-3644-4fdd-8756-f7aa79e89b21.jpg?Expires=1799812089\u0026AWSAccessKeyId=AKLT9NSy7kh8TIS1UzNqLRY2\u0026Signature=sYpy8ZuRNF9eqBY2z204FAiE49c%3D&quot;,&quot;product_name&quot;:&quot;wps-wpp-pc&quot;,&quot;intention_code&quot;:&quot;wps_wpp_generate_doc_pay&quot;}*auto_qingqiu_3.0.4_Mock_V1_prod*1768276082562_ab8173_ccc12f704712-slide-22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525cc442-5d79-4aef-8195-a8ba3b8bbeec.jpg?Expires=1799812088\u0026AWSAccessKeyId=AKLT9NSy7kh8TIS1UzNqLRY2\u0026Signature=cmCAXN7UXecJEqergK8dY6ahq60%3D&quot;,&quot;product_name&quot;:&quot;wps-wpp-pc&quot;,&quot;intention_code&quot;:&quot;wps_wpp_generate_doc_pay&quot;}*auto_qingqiu_3.0.4_Mock_V1_prod*1768276082562_ab8173_ccc12f704712-slide-22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1/7fe9ae06-dd01-4a21-9eaa-6215e0257303.jpg?Expires=1799812088\u0026AWSAccessKeyId=AKLT9NSy7kh8TIS1UzNqLRY2\u0026Signature=G4Uej5YeI928Uz9VChScxVXCanw%3D&quot;,&quot;product_name&quot;:&quot;wps-wpp-pc&quot;,&quot;intention_code&quot;:&quot;wps_wpp_generate_doc_pay&quot;}*auto_qingqiu_3.0.4_Mock_V1_prod*1768276082562_ab8173_ccc12f704712-slide-22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6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4acdb5d565d7a68b"/>
</p:tagLst>
</file>

<file path=ppt/tags/tag4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26bb07ece3fa59affe0b8b798f39f01b1fc106"/>
  <p:tag name="KSO_WM_NEWLAYOUT_GROUP_ID" val="layout_31"/>
  <p:tag name="KSO_WM_NEWLAYOUT_ID" val="slide_d326cc5a9d07c076"/>
  <p:tag name="KSO_WM_UNIT_PRESET_TEXT" val="单击此处添加标题"/>
</p:tagLst>
</file>

<file path=ppt/tags/tag4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746257596&quot;,&quot;product_name&quot;:&quot;wps-wpp-pc&quot;,&quot;intention_code&quot;:&quot;wps_wpp_generate_doc_pay&quot;}*auto_gallery_3.0.4_Mock_V1_prod*1768276082562_ab8173_ccc12f704712-slide-23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57d835d4-6c3a-4e55-9520-ed81ddc00ae5.jpg?Expires=1799812088\u0026AWSAccessKeyId=AKLT9NSy7kh8TIS1UzNqLRY2\u0026Signature=mE%2FYP5E1%2B5UFzFyQAKvi0YKMzj0%3D&quot;,&quot;product_name&quot;:&quot;wps-wpp-pc&quot;,&quot;intention_code&quot;:&quot;wps_wpp_generate_doc_pay&quot;}*auto_qingqiu_3.0.4_Mock_V1_prod*1768276082562_ab8173_ccc12f704712-slide-23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7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d326cc5a9d07c076"/>
</p:tagLst>
</file>

<file path=ppt/tags/tag478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7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80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90573"/>
  <p:tag name="KSO_WM_TEMPLATE_CATEGORY" val="custom"/>
  <p:tag name="KSO_WM_SLIDE_INDEX" val="5"/>
  <p:tag name="KSO_WM_SLIDE_ID" val="custom40490573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2495</Words>
  <Application>WPS 演示</Application>
  <PresentationFormat>宽屏</PresentationFormat>
  <Paragraphs>186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1_城市线条职场办公商务风</vt:lpstr>
      <vt:lpstr>基于 OpenDigger Top300 指标的开源项目 Issue 净积压预警可视化大屏</vt:lpstr>
      <vt:lpstr>PowerPoint 演示文稿</vt:lpstr>
      <vt:lpstr>项目说明</vt:lpstr>
      <vt:lpstr>项目研究问题</vt:lpstr>
      <vt:lpstr>模块化设计</vt:lpstr>
      <vt:lpstr>数据输入层（JSON 指标）</vt:lpstr>
      <vt:lpstr>处理与建模层（Python 清洗+结构化）</vt:lpstr>
      <vt:lpstr>可视化层（DataEase 大屏）</vt:lpstr>
      <vt:lpstr>数据大屏分析</vt:lpstr>
      <vt:lpstr>分析概况</vt:lpstr>
      <vt:lpstr>PowerPoint 演示文稿</vt:lpstr>
      <vt:lpstr>告警类型分布</vt:lpstr>
      <vt:lpstr>项目积压TOP10</vt:lpstr>
      <vt:lpstr>告警阈值对比</vt:lpstr>
      <vt:lpstr>告警原因占比</vt:lpstr>
      <vt:lpstr>风险总结与行动建议</vt:lpstr>
      <vt:lpstr>补充说明</vt:lpstr>
      <vt:lpstr>只选alerts_end.csv分析的原因说明</vt:lpstr>
      <vt:lpstr>数据文件说明</vt:lpstr>
      <vt:lpstr>净积压与预警规则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OpenDigger Top300 指标的开源项目 Issue 净积压预警可视化大屏</dc:title>
  <dc:creator/>
  <cp:lastModifiedBy>WPS_1719700682</cp:lastModifiedBy>
  <cp:revision>2</cp:revision>
  <dcterms:created xsi:type="dcterms:W3CDTF">2026-01-13T05:37:43Z</dcterms:created>
  <dcterms:modified xsi:type="dcterms:W3CDTF">2026-01-13T05:50:30Z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v1.0_ai_69796640259</vt:lpwstr>
  </property>
</Properties>
</file>